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12192000" cy="6858000"/>
  <p:embeddedFontLst>
    <p:embeddedFont>
      <p:font typeface="Roboto"/>
      <p:regular r:id="rId14"/>
      <p:bold r:id="rId15"/>
      <p:italic r:id="rId16"/>
      <p:boldItalic r:id="rId17"/>
    </p:embeddedFont>
    <p:embeddedFont>
      <p:font typeface="Carlito"/>
      <p:regular r:id="rId18"/>
      <p:bold r:id="rId19"/>
      <p:italic r:id="rId20"/>
      <p:boldItalic r:id="rId21"/>
    </p:embeddedFont>
    <p:embeddedFont>
      <p:font typeface="Roboto Mon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6" roundtripDataSignature="AMtx7mhm/QWgYxVMGRwp2yraOWcebLVo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arlito-italic.fntdata"/><Relationship Id="rId22" Type="http://schemas.openxmlformats.org/officeDocument/2006/relationships/font" Target="fonts/RobotoMono-regular.fntdata"/><Relationship Id="rId21" Type="http://schemas.openxmlformats.org/officeDocument/2006/relationships/font" Target="fonts/Carlito-boldItalic.fntdata"/><Relationship Id="rId24" Type="http://schemas.openxmlformats.org/officeDocument/2006/relationships/font" Target="fonts/RobotoMono-italic.fntdata"/><Relationship Id="rId23" Type="http://schemas.openxmlformats.org/officeDocument/2006/relationships/font" Target="fonts/RobotoMon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19" Type="http://schemas.openxmlformats.org/officeDocument/2006/relationships/font" Target="fonts/Carlito-bold.fntdata"/><Relationship Id="rId18" Type="http://schemas.openxmlformats.org/officeDocument/2006/relationships/font" Target="fonts/Carli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 name="Google Shape;50;p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 name="Google Shape;63;p2: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 name="Google Shape;71;p3: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 name="Google Shape;78;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5: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6: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13"/>
          <p:cNvSpPr txBox="1"/>
          <p:nvPr>
            <p:ph type="title"/>
          </p:nvPr>
        </p:nvSpPr>
        <p:spPr>
          <a:xfrm>
            <a:off x="2693156" y="178687"/>
            <a:ext cx="6683422" cy="11226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rgbClr val="FF000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3"/>
          <p:cNvSpPr txBox="1"/>
          <p:nvPr>
            <p:ph idx="1" type="body"/>
          </p:nvPr>
        </p:nvSpPr>
        <p:spPr>
          <a:xfrm>
            <a:off x="3607630" y="3028416"/>
            <a:ext cx="4912995" cy="161861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4800" u="sng">
                <a:solidFill>
                  <a:srgbClr val="BF0000"/>
                </a:solidFill>
                <a:latin typeface="Times New Roman"/>
                <a:ea typeface="Times New Roman"/>
                <a:cs typeface="Times New Roman"/>
                <a:sym typeface="Times New Roman"/>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 name="Google Shape;16;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19" name="Shape 19"/>
        <p:cNvGrpSpPr/>
        <p:nvPr/>
      </p:nvGrpSpPr>
      <p:grpSpPr>
        <a:xfrm>
          <a:off x="0" y="0"/>
          <a:ext cx="0" cy="0"/>
          <a:chOff x="0" y="0"/>
          <a:chExt cx="0" cy="0"/>
        </a:xfrm>
      </p:grpSpPr>
      <p:pic>
        <p:nvPicPr>
          <p:cNvPr id="20" name="Google Shape;20;p14"/>
          <p:cNvPicPr preferRelativeResize="0"/>
          <p:nvPr/>
        </p:nvPicPr>
        <p:blipFill rotWithShape="1">
          <a:blip r:embed="rId2">
            <a:alphaModFix/>
          </a:blip>
          <a:srcRect b="0" l="0" r="0" t="0"/>
          <a:stretch/>
        </p:blipFill>
        <p:spPr>
          <a:xfrm>
            <a:off x="11754976" y="4874"/>
            <a:ext cx="436989" cy="6853111"/>
          </a:xfrm>
          <a:prstGeom prst="rect">
            <a:avLst/>
          </a:prstGeom>
          <a:noFill/>
          <a:ln>
            <a:noFill/>
          </a:ln>
        </p:spPr>
      </p:pic>
      <p:pic>
        <p:nvPicPr>
          <p:cNvPr id="21" name="Google Shape;21;p14"/>
          <p:cNvPicPr preferRelativeResize="0"/>
          <p:nvPr/>
        </p:nvPicPr>
        <p:blipFill rotWithShape="1">
          <a:blip r:embed="rId3">
            <a:alphaModFix/>
          </a:blip>
          <a:srcRect b="0" l="0" r="0" t="0"/>
          <a:stretch/>
        </p:blipFill>
        <p:spPr>
          <a:xfrm>
            <a:off x="550831" y="5639213"/>
            <a:ext cx="968540" cy="721898"/>
          </a:xfrm>
          <a:prstGeom prst="rect">
            <a:avLst/>
          </a:prstGeom>
          <a:noFill/>
          <a:ln>
            <a:noFill/>
          </a:ln>
        </p:spPr>
      </p:pic>
      <p:pic>
        <p:nvPicPr>
          <p:cNvPr id="22" name="Google Shape;22;p14"/>
          <p:cNvPicPr preferRelativeResize="0"/>
          <p:nvPr/>
        </p:nvPicPr>
        <p:blipFill rotWithShape="1">
          <a:blip r:embed="rId4">
            <a:alphaModFix/>
          </a:blip>
          <a:srcRect b="0" l="0" r="0" t="0"/>
          <a:stretch/>
        </p:blipFill>
        <p:spPr>
          <a:xfrm>
            <a:off x="9367731" y="0"/>
            <a:ext cx="2824244" cy="552871"/>
          </a:xfrm>
          <a:prstGeom prst="rect">
            <a:avLst/>
          </a:prstGeom>
          <a:noFill/>
          <a:ln>
            <a:noFill/>
          </a:ln>
        </p:spPr>
      </p:pic>
      <p:sp>
        <p:nvSpPr>
          <p:cNvPr id="23" name="Google Shape;23;p14"/>
          <p:cNvSpPr txBox="1"/>
          <p:nvPr>
            <p:ph type="title"/>
          </p:nvPr>
        </p:nvSpPr>
        <p:spPr>
          <a:xfrm>
            <a:off x="2693156" y="178687"/>
            <a:ext cx="6683422" cy="11226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rgbClr val="FF000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7" name="Shape 27"/>
        <p:cNvGrpSpPr/>
        <p:nvPr/>
      </p:nvGrpSpPr>
      <p:grpSpPr>
        <a:xfrm>
          <a:off x="0" y="0"/>
          <a:ext cx="0" cy="0"/>
          <a:chOff x="0" y="0"/>
          <a:chExt cx="0" cy="0"/>
        </a:xfrm>
      </p:grpSpPr>
      <p:sp>
        <p:nvSpPr>
          <p:cNvPr id="28" name="Google Shape;28;p15"/>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rgbClr val="FF000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4800" u="sng">
                <a:solidFill>
                  <a:srgbClr val="BF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 name="Shape 33"/>
        <p:cNvGrpSpPr/>
        <p:nvPr/>
      </p:nvGrpSpPr>
      <p:grpSpPr>
        <a:xfrm>
          <a:off x="0" y="0"/>
          <a:ext cx="0" cy="0"/>
          <a:chOff x="0" y="0"/>
          <a:chExt cx="0" cy="0"/>
        </a:xfrm>
      </p:grpSpPr>
      <p:sp>
        <p:nvSpPr>
          <p:cNvPr id="34" name="Google Shape;34;p16"/>
          <p:cNvSpPr txBox="1"/>
          <p:nvPr>
            <p:ph type="title"/>
          </p:nvPr>
        </p:nvSpPr>
        <p:spPr>
          <a:xfrm>
            <a:off x="2693156" y="178687"/>
            <a:ext cx="6683422" cy="11226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rgbClr val="FF000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16"/>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40" name="Shape 40"/>
        <p:cNvGrpSpPr/>
        <p:nvPr/>
      </p:nvGrpSpPr>
      <p:grpSpPr>
        <a:xfrm>
          <a:off x="0" y="0"/>
          <a:ext cx="0" cy="0"/>
          <a:chOff x="0" y="0"/>
          <a:chExt cx="0" cy="0"/>
        </a:xfrm>
      </p:grpSpPr>
      <p:pic>
        <p:nvPicPr>
          <p:cNvPr id="41" name="Google Shape;41;p17"/>
          <p:cNvPicPr preferRelativeResize="0"/>
          <p:nvPr/>
        </p:nvPicPr>
        <p:blipFill rotWithShape="1">
          <a:blip r:embed="rId2">
            <a:alphaModFix/>
          </a:blip>
          <a:srcRect b="0" l="0" r="0" t="0"/>
          <a:stretch/>
        </p:blipFill>
        <p:spPr>
          <a:xfrm>
            <a:off x="11754976" y="4874"/>
            <a:ext cx="436989" cy="6853111"/>
          </a:xfrm>
          <a:prstGeom prst="rect">
            <a:avLst/>
          </a:prstGeom>
          <a:noFill/>
          <a:ln>
            <a:noFill/>
          </a:ln>
        </p:spPr>
      </p:pic>
      <p:pic>
        <p:nvPicPr>
          <p:cNvPr id="42" name="Google Shape;42;p17"/>
          <p:cNvPicPr preferRelativeResize="0"/>
          <p:nvPr/>
        </p:nvPicPr>
        <p:blipFill rotWithShape="1">
          <a:blip r:embed="rId3">
            <a:alphaModFix/>
          </a:blip>
          <a:srcRect b="0" l="0" r="0" t="0"/>
          <a:stretch/>
        </p:blipFill>
        <p:spPr>
          <a:xfrm>
            <a:off x="550831" y="5649043"/>
            <a:ext cx="968540" cy="721918"/>
          </a:xfrm>
          <a:prstGeom prst="rect">
            <a:avLst/>
          </a:prstGeom>
          <a:noFill/>
          <a:ln>
            <a:noFill/>
          </a:ln>
        </p:spPr>
      </p:pic>
      <p:pic>
        <p:nvPicPr>
          <p:cNvPr id="43" name="Google Shape;43;p17"/>
          <p:cNvPicPr preferRelativeResize="0"/>
          <p:nvPr/>
        </p:nvPicPr>
        <p:blipFill rotWithShape="1">
          <a:blip r:embed="rId4">
            <a:alphaModFix/>
          </a:blip>
          <a:srcRect b="0" l="0" r="0" t="0"/>
          <a:stretch/>
        </p:blipFill>
        <p:spPr>
          <a:xfrm>
            <a:off x="0" y="6379912"/>
            <a:ext cx="12191975" cy="478073"/>
          </a:xfrm>
          <a:prstGeom prst="rect">
            <a:avLst/>
          </a:prstGeom>
          <a:noFill/>
          <a:ln>
            <a:noFill/>
          </a:ln>
        </p:spPr>
      </p:pic>
      <p:pic>
        <p:nvPicPr>
          <p:cNvPr id="44" name="Google Shape;44;p17"/>
          <p:cNvPicPr preferRelativeResize="0"/>
          <p:nvPr/>
        </p:nvPicPr>
        <p:blipFill rotWithShape="1">
          <a:blip r:embed="rId5">
            <a:alphaModFix/>
          </a:blip>
          <a:srcRect b="0" l="0" r="0" t="0"/>
          <a:stretch/>
        </p:blipFill>
        <p:spPr>
          <a:xfrm>
            <a:off x="1" y="6060562"/>
            <a:ext cx="722726" cy="346079"/>
          </a:xfrm>
          <a:prstGeom prst="rect">
            <a:avLst/>
          </a:prstGeom>
          <a:noFill/>
          <a:ln>
            <a:noFill/>
          </a:ln>
        </p:spPr>
      </p:pic>
      <p:sp>
        <p:nvSpPr>
          <p:cNvPr id="45" name="Google Shape;45;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2"/>
          <p:cNvPicPr preferRelativeResize="0"/>
          <p:nvPr/>
        </p:nvPicPr>
        <p:blipFill rotWithShape="1">
          <a:blip r:embed="rId1">
            <a:alphaModFix/>
          </a:blip>
          <a:srcRect b="0" l="0" r="0" t="0"/>
          <a:stretch/>
        </p:blipFill>
        <p:spPr>
          <a:xfrm>
            <a:off x="11754976" y="4874"/>
            <a:ext cx="436989" cy="6853111"/>
          </a:xfrm>
          <a:prstGeom prst="rect">
            <a:avLst/>
          </a:prstGeom>
          <a:noFill/>
          <a:ln>
            <a:noFill/>
          </a:ln>
        </p:spPr>
      </p:pic>
      <p:pic>
        <p:nvPicPr>
          <p:cNvPr id="7" name="Google Shape;7;p12"/>
          <p:cNvPicPr preferRelativeResize="0"/>
          <p:nvPr/>
        </p:nvPicPr>
        <p:blipFill rotWithShape="1">
          <a:blip r:embed="rId2">
            <a:alphaModFix/>
          </a:blip>
          <a:srcRect b="0" l="0" r="0" t="0"/>
          <a:stretch/>
        </p:blipFill>
        <p:spPr>
          <a:xfrm>
            <a:off x="550831" y="5639213"/>
            <a:ext cx="968540" cy="721898"/>
          </a:xfrm>
          <a:prstGeom prst="rect">
            <a:avLst/>
          </a:prstGeom>
          <a:noFill/>
          <a:ln>
            <a:noFill/>
          </a:ln>
        </p:spPr>
      </p:pic>
      <p:sp>
        <p:nvSpPr>
          <p:cNvPr id="8" name="Google Shape;8;p12"/>
          <p:cNvSpPr txBox="1"/>
          <p:nvPr>
            <p:ph type="title"/>
          </p:nvPr>
        </p:nvSpPr>
        <p:spPr>
          <a:xfrm>
            <a:off x="2693156" y="178687"/>
            <a:ext cx="6683422" cy="112268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rgbClr val="FF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12"/>
          <p:cNvSpPr txBox="1"/>
          <p:nvPr>
            <p:ph idx="1" type="body"/>
          </p:nvPr>
        </p:nvSpPr>
        <p:spPr>
          <a:xfrm>
            <a:off x="3607630" y="3028416"/>
            <a:ext cx="4912995" cy="1618614"/>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4800" u="sng" cap="none" strike="noStrike">
                <a:solidFill>
                  <a:srgbClr val="BF0000"/>
                </a:solidFill>
                <a:latin typeface="Times New Roman"/>
                <a:ea typeface="Times New Roman"/>
                <a:cs typeface="Times New Roman"/>
                <a:sym typeface="Times New Roman"/>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0" name="Google Shape;10;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4.jpg"/><Relationship Id="rId6"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 name="Shape 51"/>
        <p:cNvGrpSpPr/>
        <p:nvPr/>
      </p:nvGrpSpPr>
      <p:grpSpPr>
        <a:xfrm>
          <a:off x="0" y="0"/>
          <a:ext cx="0" cy="0"/>
          <a:chOff x="0" y="0"/>
          <a:chExt cx="0" cy="0"/>
        </a:xfrm>
      </p:grpSpPr>
      <p:pic>
        <p:nvPicPr>
          <p:cNvPr id="52" name="Google Shape;52;p1"/>
          <p:cNvPicPr preferRelativeResize="0"/>
          <p:nvPr/>
        </p:nvPicPr>
        <p:blipFill rotWithShape="1">
          <a:blip r:embed="rId3">
            <a:alphaModFix/>
          </a:blip>
          <a:srcRect b="0" l="0" r="0" t="0"/>
          <a:stretch/>
        </p:blipFill>
        <p:spPr>
          <a:xfrm>
            <a:off x="0" y="6400787"/>
            <a:ext cx="12191975" cy="457198"/>
          </a:xfrm>
          <a:prstGeom prst="rect">
            <a:avLst/>
          </a:prstGeom>
          <a:noFill/>
          <a:ln>
            <a:noFill/>
          </a:ln>
        </p:spPr>
      </p:pic>
      <p:pic>
        <p:nvPicPr>
          <p:cNvPr id="53" name="Google Shape;53;p1"/>
          <p:cNvPicPr preferRelativeResize="0"/>
          <p:nvPr/>
        </p:nvPicPr>
        <p:blipFill rotWithShape="1">
          <a:blip r:embed="rId4">
            <a:alphaModFix/>
          </a:blip>
          <a:srcRect b="0" l="0" r="0" t="0"/>
          <a:stretch/>
        </p:blipFill>
        <p:spPr>
          <a:xfrm>
            <a:off x="0" y="6054712"/>
            <a:ext cx="573716" cy="346074"/>
          </a:xfrm>
          <a:prstGeom prst="rect">
            <a:avLst/>
          </a:prstGeom>
          <a:noFill/>
          <a:ln>
            <a:noFill/>
          </a:ln>
        </p:spPr>
      </p:pic>
      <p:grpSp>
        <p:nvGrpSpPr>
          <p:cNvPr id="54" name="Google Shape;54;p1"/>
          <p:cNvGrpSpPr/>
          <p:nvPr/>
        </p:nvGrpSpPr>
        <p:grpSpPr>
          <a:xfrm>
            <a:off x="462204" y="339174"/>
            <a:ext cx="10968414" cy="1288903"/>
            <a:chOff x="145159" y="0"/>
            <a:chExt cx="12046815" cy="1600196"/>
          </a:xfrm>
        </p:grpSpPr>
        <p:pic>
          <p:nvPicPr>
            <p:cNvPr id="55" name="Google Shape;55;p1"/>
            <p:cNvPicPr preferRelativeResize="0"/>
            <p:nvPr/>
          </p:nvPicPr>
          <p:blipFill rotWithShape="1">
            <a:blip r:embed="rId5">
              <a:alphaModFix/>
            </a:blip>
            <a:srcRect b="0" l="0" r="0" t="0"/>
            <a:stretch/>
          </p:blipFill>
          <p:spPr>
            <a:xfrm>
              <a:off x="358424" y="171774"/>
              <a:ext cx="4190816" cy="721923"/>
            </a:xfrm>
            <a:prstGeom prst="rect">
              <a:avLst/>
            </a:prstGeom>
            <a:noFill/>
            <a:ln>
              <a:noFill/>
            </a:ln>
          </p:spPr>
        </p:pic>
        <p:pic>
          <p:nvPicPr>
            <p:cNvPr id="56" name="Google Shape;56;p1"/>
            <p:cNvPicPr preferRelativeResize="0"/>
            <p:nvPr/>
          </p:nvPicPr>
          <p:blipFill rotWithShape="1">
            <a:blip r:embed="rId6">
              <a:alphaModFix/>
            </a:blip>
            <a:srcRect b="0" l="0" r="0" t="0"/>
            <a:stretch/>
          </p:blipFill>
          <p:spPr>
            <a:xfrm>
              <a:off x="145159" y="0"/>
              <a:ext cx="12046815" cy="1600196"/>
            </a:xfrm>
            <a:prstGeom prst="rect">
              <a:avLst/>
            </a:prstGeom>
            <a:noFill/>
            <a:ln>
              <a:noFill/>
            </a:ln>
          </p:spPr>
        </p:pic>
      </p:grpSp>
      <p:sp>
        <p:nvSpPr>
          <p:cNvPr id="57" name="Google Shape;57;p1"/>
          <p:cNvSpPr txBox="1"/>
          <p:nvPr>
            <p:ph type="title"/>
          </p:nvPr>
        </p:nvSpPr>
        <p:spPr>
          <a:xfrm>
            <a:off x="3070121" y="1628070"/>
            <a:ext cx="6048300" cy="459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b="1" lang="en-US" sz="2900" u="sng">
                <a:solidFill>
                  <a:srgbClr val="042357"/>
                </a:solidFill>
                <a:latin typeface="Times New Roman"/>
                <a:ea typeface="Times New Roman"/>
                <a:cs typeface="Times New Roman"/>
                <a:sym typeface="Times New Roman"/>
              </a:rPr>
              <a:t>Department of Computer Engineering</a:t>
            </a:r>
            <a:endParaRPr sz="2900">
              <a:latin typeface="Times New Roman"/>
              <a:ea typeface="Times New Roman"/>
              <a:cs typeface="Times New Roman"/>
              <a:sym typeface="Times New Roman"/>
            </a:endParaRPr>
          </a:p>
        </p:txBody>
      </p:sp>
      <p:sp>
        <p:nvSpPr>
          <p:cNvPr id="58" name="Google Shape;58;p1"/>
          <p:cNvSpPr txBox="1"/>
          <p:nvPr>
            <p:ph idx="1" type="body"/>
          </p:nvPr>
        </p:nvSpPr>
        <p:spPr>
          <a:xfrm>
            <a:off x="305675" y="2087375"/>
            <a:ext cx="11589300" cy="45363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SzPts val="1400"/>
              <a:buNone/>
            </a:pPr>
            <a:r>
              <a:rPr lang="en-US" sz="2900">
                <a:solidFill>
                  <a:srgbClr val="042357"/>
                </a:solidFill>
              </a:rPr>
              <a:t>Academic Year 2025-2026 (Even Sem)</a:t>
            </a:r>
            <a:endParaRPr sz="2900">
              <a:solidFill>
                <a:srgbClr val="042357"/>
              </a:solidFill>
            </a:endParaRPr>
          </a:p>
          <a:p>
            <a:pPr indent="0" lvl="0" marL="12700" rtl="0" algn="ctr">
              <a:lnSpc>
                <a:spcPct val="100000"/>
              </a:lnSpc>
              <a:spcBef>
                <a:spcPts val="0"/>
              </a:spcBef>
              <a:spcAft>
                <a:spcPts val="0"/>
              </a:spcAft>
              <a:buClr>
                <a:schemeClr val="dk1"/>
              </a:buClr>
              <a:buSzPts val="1400"/>
              <a:buFont typeface="Arial"/>
              <a:buNone/>
            </a:pPr>
            <a:r>
              <a:rPr lang="en-US" sz="2900">
                <a:solidFill>
                  <a:srgbClr val="042357"/>
                </a:solidFill>
              </a:rPr>
              <a:t>SY Mini Project </a:t>
            </a:r>
            <a:endParaRPr sz="2900">
              <a:solidFill>
                <a:srgbClr val="042357"/>
              </a:solidFill>
            </a:endParaRPr>
          </a:p>
          <a:p>
            <a:pPr indent="0" lvl="0" marL="0" rtl="0" algn="ctr">
              <a:lnSpc>
                <a:spcPct val="117604"/>
              </a:lnSpc>
              <a:spcBef>
                <a:spcPts val="0"/>
              </a:spcBef>
              <a:spcAft>
                <a:spcPts val="0"/>
              </a:spcAft>
              <a:buSzPts val="1400"/>
              <a:buNone/>
            </a:pPr>
            <a:r>
              <a:rPr lang="en-US"/>
              <a:t>Mini Project Presentation</a:t>
            </a:r>
            <a:endParaRPr/>
          </a:p>
          <a:p>
            <a:pPr indent="0" lvl="0" marL="3175" rtl="0" algn="ctr">
              <a:lnSpc>
                <a:spcPct val="115208"/>
              </a:lnSpc>
              <a:spcBef>
                <a:spcPts val="0"/>
              </a:spcBef>
              <a:spcAft>
                <a:spcPts val="0"/>
              </a:spcAft>
              <a:buClr>
                <a:schemeClr val="dk1"/>
              </a:buClr>
              <a:buSzPts val="1100"/>
              <a:buFont typeface="Arial"/>
              <a:buNone/>
            </a:pPr>
            <a:r>
              <a:rPr lang="en-US" sz="2400"/>
              <a:t>Vedanshi Parmar (B-48)</a:t>
            </a:r>
            <a:endParaRPr sz="2400"/>
          </a:p>
          <a:p>
            <a:pPr indent="0" lvl="0" marL="3175" rtl="0" algn="ctr">
              <a:lnSpc>
                <a:spcPct val="115208"/>
              </a:lnSpc>
              <a:spcBef>
                <a:spcPts val="0"/>
              </a:spcBef>
              <a:spcAft>
                <a:spcPts val="0"/>
              </a:spcAft>
              <a:buClr>
                <a:schemeClr val="dk1"/>
              </a:buClr>
              <a:buSzPts val="1100"/>
              <a:buFont typeface="Arial"/>
              <a:buNone/>
            </a:pPr>
            <a:r>
              <a:rPr lang="en-US" sz="2400"/>
              <a:t>Urvi Parekh (B-47)</a:t>
            </a:r>
            <a:endParaRPr sz="2400"/>
          </a:p>
          <a:p>
            <a:pPr indent="0" lvl="0" marL="3175" rtl="0" algn="ctr">
              <a:lnSpc>
                <a:spcPct val="115208"/>
              </a:lnSpc>
              <a:spcBef>
                <a:spcPts val="0"/>
              </a:spcBef>
              <a:spcAft>
                <a:spcPts val="0"/>
              </a:spcAft>
              <a:buClr>
                <a:schemeClr val="dk1"/>
              </a:buClr>
              <a:buSzPts val="1100"/>
              <a:buFont typeface="Arial"/>
              <a:buNone/>
            </a:pPr>
            <a:r>
              <a:rPr lang="en-US" sz="2400"/>
              <a:t>Heli Shah (B-24)</a:t>
            </a:r>
            <a:endParaRPr sz="2400"/>
          </a:p>
          <a:p>
            <a:pPr indent="0" lvl="0" marL="3175" rtl="0" algn="ctr">
              <a:lnSpc>
                <a:spcPct val="115208"/>
              </a:lnSpc>
              <a:spcBef>
                <a:spcPts val="0"/>
              </a:spcBef>
              <a:spcAft>
                <a:spcPts val="0"/>
              </a:spcAft>
              <a:buSzPts val="1100"/>
              <a:buNone/>
            </a:pPr>
            <a:r>
              <a:rPr lang="en-US" sz="2400"/>
              <a:t>Rashmi Pinge (B-16)</a:t>
            </a:r>
            <a:endParaRPr sz="2400"/>
          </a:p>
          <a:p>
            <a:pPr indent="0" lvl="0" marL="635" rtl="0" algn="ctr">
              <a:lnSpc>
                <a:spcPct val="100000"/>
              </a:lnSpc>
              <a:spcBef>
                <a:spcPts val="1250"/>
              </a:spcBef>
              <a:spcAft>
                <a:spcPts val="0"/>
              </a:spcAft>
              <a:buSzPts val="1400"/>
              <a:buNone/>
            </a:pPr>
            <a:r>
              <a:rPr lang="en-US" sz="2400"/>
              <a:t>Guided By : Ms.Vaishali Patil</a:t>
            </a:r>
            <a:endParaRPr/>
          </a:p>
          <a:p>
            <a:pPr indent="0" lvl="0" marL="635" rtl="0" algn="ctr">
              <a:lnSpc>
                <a:spcPct val="100000"/>
              </a:lnSpc>
              <a:spcBef>
                <a:spcPts val="1250"/>
              </a:spcBef>
              <a:spcAft>
                <a:spcPts val="0"/>
              </a:spcAft>
              <a:buSzPts val="1400"/>
              <a:buNone/>
            </a:pPr>
            <a:r>
              <a:t/>
            </a:r>
            <a:endParaRPr sz="2400"/>
          </a:p>
        </p:txBody>
      </p:sp>
      <p:sp>
        <p:nvSpPr>
          <p:cNvPr id="59" name="Google Shape;59;p1"/>
          <p:cNvSpPr txBox="1"/>
          <p:nvPr/>
        </p:nvSpPr>
        <p:spPr>
          <a:xfrm>
            <a:off x="4992899" y="6448923"/>
            <a:ext cx="220281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878787"/>
                </a:solidFill>
                <a:latin typeface="Carlito"/>
                <a:ea typeface="Carlito"/>
                <a:cs typeface="Carlito"/>
                <a:sym typeface="Carlito"/>
              </a:rPr>
              <a:t>Computer Engineering Department</a:t>
            </a:r>
            <a:endParaRPr b="0" i="0" sz="1200" u="none" cap="none" strike="noStrike">
              <a:solidFill>
                <a:srgbClr val="000000"/>
              </a:solidFill>
              <a:latin typeface="Carlito"/>
              <a:ea typeface="Carlito"/>
              <a:cs typeface="Carlito"/>
              <a:sym typeface="Carlito"/>
            </a:endParaRPr>
          </a:p>
        </p:txBody>
      </p:sp>
      <p:sp>
        <p:nvSpPr>
          <p:cNvPr id="60" name="Google Shape;60;p1"/>
          <p:cNvSpPr txBox="1"/>
          <p:nvPr/>
        </p:nvSpPr>
        <p:spPr>
          <a:xfrm>
            <a:off x="11178104" y="6448923"/>
            <a:ext cx="102870"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Arial"/>
              <a:buNone/>
            </a:pPr>
            <a:r>
              <a:rPr b="0" i="0" lang="en-US" sz="1200" u="none" cap="none" strike="noStrike">
                <a:solidFill>
                  <a:srgbClr val="878787"/>
                </a:solidFill>
                <a:latin typeface="Carlito"/>
                <a:ea typeface="Carlito"/>
                <a:cs typeface="Carlito"/>
                <a:sym typeface="Carlito"/>
              </a:rPr>
              <a:t>1</a:t>
            </a:r>
            <a:endParaRPr b="0" i="0" sz="1200" u="none" cap="none" strike="noStrike">
              <a:solidFill>
                <a:srgbClr val="000000"/>
              </a:solidFill>
              <a:latin typeface="Carlito"/>
              <a:ea typeface="Carlito"/>
              <a:cs typeface="Carlito"/>
              <a:sym typeface="Carl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type="title"/>
          </p:nvPr>
        </p:nvSpPr>
        <p:spPr>
          <a:xfrm>
            <a:off x="2100500" y="454080"/>
            <a:ext cx="6683400" cy="489900"/>
          </a:xfrm>
          <a:prstGeom prst="rect">
            <a:avLst/>
          </a:prstGeom>
          <a:noFill/>
          <a:ln>
            <a:noFill/>
          </a:ln>
        </p:spPr>
        <p:txBody>
          <a:bodyPr anchorCtr="0" anchor="t" bIns="0" lIns="0" spcFirstLastPara="1" rIns="0" wrap="square" tIns="12700">
            <a:spAutoFit/>
          </a:bodyPr>
          <a:lstStyle/>
          <a:p>
            <a:pPr indent="0" lvl="0" marL="2049145" rtl="0" algn="l">
              <a:lnSpc>
                <a:spcPct val="100000"/>
              </a:lnSpc>
              <a:spcBef>
                <a:spcPts val="0"/>
              </a:spcBef>
              <a:spcAft>
                <a:spcPts val="0"/>
              </a:spcAft>
              <a:buSzPts val="1400"/>
              <a:buNone/>
            </a:pPr>
            <a:r>
              <a:rPr b="1" lang="en-US" sz="3100">
                <a:solidFill>
                  <a:srgbClr val="BF0000"/>
                </a:solidFill>
                <a:latin typeface="Times New Roman"/>
                <a:ea typeface="Times New Roman"/>
                <a:cs typeface="Times New Roman"/>
                <a:sym typeface="Times New Roman"/>
              </a:rPr>
              <a:t>Problem Statement 1</a:t>
            </a:r>
            <a:endParaRPr b="1" sz="3100">
              <a:solidFill>
                <a:srgbClr val="BF0000"/>
              </a:solidFill>
              <a:latin typeface="Times New Roman"/>
              <a:ea typeface="Times New Roman"/>
              <a:cs typeface="Times New Roman"/>
              <a:sym typeface="Times New Roman"/>
            </a:endParaRPr>
          </a:p>
        </p:txBody>
      </p:sp>
      <p:sp>
        <p:nvSpPr>
          <p:cNvPr id="66" name="Google Shape;66;p2"/>
          <p:cNvSpPr txBox="1"/>
          <p:nvPr/>
        </p:nvSpPr>
        <p:spPr>
          <a:xfrm>
            <a:off x="962975" y="1297900"/>
            <a:ext cx="9972900" cy="419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000">
              <a:solidFill>
                <a:srgbClr val="BF0000"/>
              </a:solidFill>
              <a:latin typeface="Times New Roman"/>
              <a:ea typeface="Times New Roman"/>
              <a:cs typeface="Times New Roman"/>
              <a:sym typeface="Times New Roman"/>
            </a:endParaRPr>
          </a:p>
        </p:txBody>
      </p:sp>
      <p:sp>
        <p:nvSpPr>
          <p:cNvPr id="67" name="Google Shape;67;p2"/>
          <p:cNvSpPr txBox="1"/>
          <p:nvPr/>
        </p:nvSpPr>
        <p:spPr>
          <a:xfrm>
            <a:off x="295325" y="1418025"/>
            <a:ext cx="8394600" cy="4195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Times New Roman"/>
              <a:buChar char="●"/>
            </a:pPr>
            <a:r>
              <a:rPr b="1" lang="en-US" sz="1600">
                <a:solidFill>
                  <a:schemeClr val="dk1"/>
                </a:solidFill>
              </a:rPr>
              <a:t>Effective communication relies on natural pacing, emphasis, and momentum</a:t>
            </a:r>
            <a:r>
              <a:rPr lang="en-US" sz="1600">
                <a:solidFill>
                  <a:schemeClr val="dk1"/>
                </a:solidFill>
              </a:rPr>
              <a:t>, allowing speakers to guide attention and reinforce key ideas in real time.</a:t>
            </a:r>
            <a:br>
              <a:rPr lang="en-US">
                <a:solidFill>
                  <a:schemeClr val="dk1"/>
                </a:solidFill>
              </a:rPr>
            </a:br>
            <a:endParaRPr>
              <a:solidFill>
                <a:schemeClr val="dk1"/>
              </a:solidFill>
            </a:endParaRPr>
          </a:p>
          <a:p>
            <a:pPr indent="-317500" lvl="0" marL="457200" rtl="0" algn="l">
              <a:spcBef>
                <a:spcPts val="0"/>
              </a:spcBef>
              <a:spcAft>
                <a:spcPts val="0"/>
              </a:spcAft>
              <a:buSzPts val="1400"/>
              <a:buFont typeface="Times New Roman"/>
              <a:buChar char="●"/>
            </a:pPr>
            <a:r>
              <a:rPr b="1" lang="en-US" sz="1600">
                <a:solidFill>
                  <a:schemeClr val="dk1"/>
                </a:solidFill>
              </a:rPr>
              <a:t>Manual slide navigation repeatedly disrupts this flow</a:t>
            </a:r>
            <a:r>
              <a:rPr lang="en-US" sz="1600">
                <a:solidFill>
                  <a:schemeClr val="dk1"/>
                </a:solidFill>
              </a:rPr>
              <a:t>, forcing presenters to break eye contact and thought continuity.</a:t>
            </a:r>
            <a:br>
              <a:rPr lang="en-US">
                <a:solidFill>
                  <a:schemeClr val="dk1"/>
                </a:solidFill>
              </a:rPr>
            </a:br>
            <a:endParaRPr>
              <a:solidFill>
                <a:schemeClr val="dk1"/>
              </a:solidFill>
            </a:endParaRPr>
          </a:p>
          <a:p>
            <a:pPr indent="-317500" lvl="0" marL="457200" rtl="0" algn="l">
              <a:spcBef>
                <a:spcPts val="0"/>
              </a:spcBef>
              <a:spcAft>
                <a:spcPts val="0"/>
              </a:spcAft>
              <a:buSzPts val="1400"/>
              <a:buFont typeface="Times New Roman"/>
              <a:buChar char="●"/>
            </a:pPr>
            <a:r>
              <a:rPr b="1" lang="en-US" sz="1600">
                <a:solidFill>
                  <a:schemeClr val="dk1"/>
                </a:solidFill>
              </a:rPr>
              <a:t>Speakers must shift focus to clickers, annotation tools, or verbal cues</a:t>
            </a:r>
            <a:r>
              <a:rPr lang="en-US" sz="1600">
                <a:solidFill>
                  <a:schemeClr val="dk1"/>
                </a:solidFill>
              </a:rPr>
              <a:t>, dividing attention between delivery and control.</a:t>
            </a:r>
            <a:br>
              <a:rPr lang="en-US">
                <a:solidFill>
                  <a:schemeClr val="dk1"/>
                </a:solidFill>
              </a:rPr>
            </a:br>
            <a:endParaRPr>
              <a:solidFill>
                <a:schemeClr val="dk1"/>
              </a:solidFill>
            </a:endParaRPr>
          </a:p>
          <a:p>
            <a:pPr indent="-317500" lvl="0" marL="457200" rtl="0" algn="l">
              <a:spcBef>
                <a:spcPts val="0"/>
              </a:spcBef>
              <a:spcAft>
                <a:spcPts val="0"/>
              </a:spcAft>
              <a:buSzPts val="1400"/>
              <a:buFont typeface="Times New Roman"/>
              <a:buChar char="●"/>
            </a:pPr>
            <a:r>
              <a:rPr b="1" lang="en-US" sz="1600">
                <a:solidFill>
                  <a:schemeClr val="dk1"/>
                </a:solidFill>
              </a:rPr>
              <a:t>These constant micro-interruptions reduce confidence, audience engagement, and message clarity</a:t>
            </a:r>
            <a:r>
              <a:rPr lang="en-US" sz="1600">
                <a:solidFill>
                  <a:schemeClr val="dk1"/>
                </a:solidFill>
              </a:rPr>
              <a:t>, weakening overall impact.</a:t>
            </a:r>
            <a:br>
              <a:rPr lang="en-US">
                <a:solidFill>
                  <a:schemeClr val="dk1"/>
                </a:solidFill>
              </a:rPr>
            </a:br>
            <a:endParaRPr>
              <a:solidFill>
                <a:schemeClr val="dk1"/>
              </a:solidFill>
            </a:endParaRPr>
          </a:p>
          <a:p>
            <a:pPr indent="-330200" lvl="0" marL="457200" rtl="0" algn="l">
              <a:spcBef>
                <a:spcPts val="0"/>
              </a:spcBef>
              <a:spcAft>
                <a:spcPts val="0"/>
              </a:spcAft>
              <a:buSzPts val="1600"/>
              <a:buFont typeface="Times New Roman"/>
              <a:buChar char="●"/>
            </a:pPr>
            <a:r>
              <a:rPr b="1" lang="en-US" sz="1600">
                <a:solidFill>
                  <a:schemeClr val="dk1"/>
                </a:solidFill>
              </a:rPr>
              <a:t>Existing voice assistants operate on rigid, predefined commands</a:t>
            </a:r>
            <a:r>
              <a:rPr lang="en-US" sz="1600">
                <a:solidFill>
                  <a:schemeClr val="dk1"/>
                </a:solidFill>
              </a:rPr>
              <a:t>, requiring users to adapt their speech unnaturally.</a:t>
            </a:r>
            <a:br>
              <a:rPr lang="en-US" sz="1600">
                <a:solidFill>
                  <a:schemeClr val="dk1"/>
                </a:solidFill>
              </a:rPr>
            </a:br>
            <a:endParaRPr sz="1600">
              <a:solidFill>
                <a:schemeClr val="dk1"/>
              </a:solidFill>
            </a:endParaRPr>
          </a:p>
          <a:p>
            <a:pPr indent="-330200" lvl="0" marL="457200" rtl="0" algn="l">
              <a:spcBef>
                <a:spcPts val="0"/>
              </a:spcBef>
              <a:spcAft>
                <a:spcPts val="0"/>
              </a:spcAft>
              <a:buSzPts val="1600"/>
              <a:buFont typeface="Times New Roman"/>
              <a:buChar char="●"/>
            </a:pPr>
            <a:r>
              <a:rPr b="1" lang="en-US" sz="1600">
                <a:solidFill>
                  <a:schemeClr val="dk1"/>
                </a:solidFill>
              </a:rPr>
              <a:t>They lack awareness of context, intent, and presentation flow</a:t>
            </a:r>
            <a:r>
              <a:rPr lang="en-US" sz="1600">
                <a:solidFill>
                  <a:schemeClr val="dk1"/>
                </a:solidFill>
              </a:rPr>
              <a:t>, making them ineffective in live, dynamic settings.</a:t>
            </a:r>
            <a:endParaRPr sz="1600">
              <a:solidFill>
                <a:schemeClr val="dk1"/>
              </a:solidFill>
            </a:endParaRPr>
          </a:p>
          <a:p>
            <a:pPr indent="0" lvl="0" marL="457200" rtl="0" algn="l">
              <a:spcBef>
                <a:spcPts val="0"/>
              </a:spcBef>
              <a:spcAft>
                <a:spcPts val="0"/>
              </a:spcAft>
              <a:buNone/>
            </a:pPr>
            <a:r>
              <a:t/>
            </a:r>
            <a:endParaRPr b="1">
              <a:solidFill>
                <a:schemeClr val="dk1"/>
              </a:solidFill>
            </a:endParaRPr>
          </a:p>
        </p:txBody>
      </p:sp>
      <p:pic>
        <p:nvPicPr>
          <p:cNvPr id="68" name="Google Shape;68;p2"/>
          <p:cNvPicPr preferRelativeResize="0"/>
          <p:nvPr/>
        </p:nvPicPr>
        <p:blipFill>
          <a:blip r:embed="rId3">
            <a:alphaModFix/>
          </a:blip>
          <a:stretch>
            <a:fillRect/>
          </a:stretch>
        </p:blipFill>
        <p:spPr>
          <a:xfrm>
            <a:off x="8644050" y="1054975"/>
            <a:ext cx="3490700" cy="54138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3"/>
          <p:cNvSpPr txBox="1"/>
          <p:nvPr>
            <p:ph type="title"/>
          </p:nvPr>
        </p:nvSpPr>
        <p:spPr>
          <a:xfrm>
            <a:off x="2486783" y="209452"/>
            <a:ext cx="6683400" cy="5670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SzPts val="1400"/>
              <a:buNone/>
            </a:pPr>
            <a:r>
              <a:rPr b="1" lang="en-US">
                <a:solidFill>
                  <a:srgbClr val="BF0000"/>
                </a:solidFill>
                <a:latin typeface="Times New Roman"/>
                <a:ea typeface="Times New Roman"/>
                <a:cs typeface="Times New Roman"/>
                <a:sym typeface="Times New Roman"/>
              </a:rPr>
              <a:t>Solution 1</a:t>
            </a:r>
            <a:endParaRPr>
              <a:latin typeface="Times New Roman"/>
              <a:ea typeface="Times New Roman"/>
              <a:cs typeface="Times New Roman"/>
              <a:sym typeface="Times New Roman"/>
            </a:endParaRPr>
          </a:p>
        </p:txBody>
      </p:sp>
      <p:sp>
        <p:nvSpPr>
          <p:cNvPr id="74" name="Google Shape;74;p3"/>
          <p:cNvSpPr txBox="1"/>
          <p:nvPr/>
        </p:nvSpPr>
        <p:spPr>
          <a:xfrm>
            <a:off x="762000" y="1448625"/>
            <a:ext cx="10400100" cy="396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rgbClr val="BF0000"/>
              </a:solidFill>
              <a:latin typeface="Times New Roman"/>
              <a:ea typeface="Times New Roman"/>
              <a:cs typeface="Times New Roman"/>
              <a:sym typeface="Times New Roman"/>
            </a:endParaRPr>
          </a:p>
        </p:txBody>
      </p:sp>
      <p:sp>
        <p:nvSpPr>
          <p:cNvPr id="75" name="Google Shape;75;p3"/>
          <p:cNvSpPr txBox="1"/>
          <p:nvPr/>
        </p:nvSpPr>
        <p:spPr>
          <a:xfrm>
            <a:off x="540300" y="776450"/>
            <a:ext cx="11248800" cy="577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An intelligent presentation system that understands </a:t>
            </a:r>
            <a:r>
              <a:rPr b="1" lang="en-US" sz="1100">
                <a:solidFill>
                  <a:schemeClr val="dk1"/>
                </a:solidFill>
              </a:rPr>
              <a:t>what the speaker means</a:t>
            </a:r>
            <a:r>
              <a:rPr lang="en-US" sz="1100">
                <a:solidFill>
                  <a:schemeClr val="dk1"/>
                </a:solidFill>
              </a:rPr>
              <a:t>, not just what they say — eliminating manual interruptions and restoring natural presentation flow.</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Key Capabilities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Hands-Free Slide Navigation</a:t>
            </a:r>
            <a:br>
              <a:rPr b="1" lang="en-US" sz="1100">
                <a:solidFill>
                  <a:schemeClr val="dk1"/>
                </a:solidFill>
              </a:rPr>
            </a:br>
            <a:r>
              <a:rPr lang="en-US" sz="1100">
                <a:solidFill>
                  <a:schemeClr val="dk1"/>
                </a:solidFill>
              </a:rPr>
              <a:t> Controls slides using natural speech and pacing, removing the need for clickers or manual input.</a:t>
            </a:r>
            <a:br>
              <a:rPr lang="en-US" sz="1100">
                <a:solidFill>
                  <a:schemeClr val="dk1"/>
                </a:solidFill>
              </a:rPr>
            </a:br>
            <a:r>
              <a:rPr lang="en-US" sz="1100">
                <a:solidFill>
                  <a:schemeClr val="dk1"/>
                </a:solidFill>
              </a:rPr>
              <a:t> </a:t>
            </a:r>
            <a:r>
              <a:rPr i="1" lang="en-US" sz="1100">
                <a:solidFill>
                  <a:schemeClr val="dk1"/>
                </a:solidFill>
              </a:rPr>
              <a:t>Examples:</a:t>
            </a:r>
            <a:br>
              <a:rPr i="1" lang="en-US" sz="1100">
                <a:solidFill>
                  <a:schemeClr val="dk1"/>
                </a:solidFill>
              </a:rPr>
            </a:br>
            <a:r>
              <a:rPr lang="en-US" sz="1100">
                <a:solidFill>
                  <a:schemeClr val="dk1"/>
                </a:solidFill>
              </a:rPr>
              <a:t> “Let’s move on” → Next slide</a:t>
            </a:r>
            <a:br>
              <a:rPr lang="en-US" sz="1100">
                <a:solidFill>
                  <a:schemeClr val="dk1"/>
                </a:solidFill>
              </a:rPr>
            </a:br>
            <a:r>
              <a:rPr lang="en-US" sz="1100">
                <a:solidFill>
                  <a:schemeClr val="dk1"/>
                </a:solidFill>
              </a:rPr>
              <a:t> “Going back…” → Previous slide</a:t>
            </a:r>
            <a:br>
              <a:rPr lang="en-US" sz="1100">
                <a:solidFill>
                  <a:schemeClr val="dk1"/>
                </a:solidFill>
              </a:rPr>
            </a:br>
            <a:r>
              <a:rPr lang="en-US" sz="1100">
                <a:solidFill>
                  <a:schemeClr val="dk1"/>
                </a:solidFill>
              </a:rPr>
              <a:t> “Skip this” → Jump forward</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Speech-Synced Content Emphasis &amp; Reveal</a:t>
            </a:r>
            <a:br>
              <a:rPr b="1" lang="en-US" sz="1100">
                <a:solidFill>
                  <a:schemeClr val="dk1"/>
                </a:solidFill>
              </a:rPr>
            </a:br>
            <a:r>
              <a:rPr lang="en-US" sz="1100">
                <a:solidFill>
                  <a:schemeClr val="dk1"/>
                </a:solidFill>
              </a:rPr>
              <a:t> Automatically highlights, reveals, or emphasizes slide content as it is spoken, keeping the audience aligned with the narrative.</a:t>
            </a:r>
            <a:br>
              <a:rPr lang="en-US" sz="1100">
                <a:solidFill>
                  <a:schemeClr val="dk1"/>
                </a:solidFill>
              </a:rPr>
            </a:br>
            <a:r>
              <a:rPr lang="en-US" sz="1100">
                <a:solidFill>
                  <a:schemeClr val="dk1"/>
                </a:solidFill>
              </a:rPr>
              <a:t> </a:t>
            </a:r>
            <a:r>
              <a:rPr i="1" lang="en-US" sz="1100">
                <a:solidFill>
                  <a:schemeClr val="dk1"/>
                </a:solidFill>
              </a:rPr>
              <a:t>Examples:</a:t>
            </a:r>
            <a:br>
              <a:rPr i="1" lang="en-US" sz="1100">
                <a:solidFill>
                  <a:schemeClr val="dk1"/>
                </a:solidFill>
              </a:rPr>
            </a:br>
            <a:r>
              <a:rPr lang="en-US" sz="1100">
                <a:solidFill>
                  <a:schemeClr val="dk1"/>
                </a:solidFill>
              </a:rPr>
              <a:t> Reading a bullet → That bullet is highlighted</a:t>
            </a:r>
            <a:br>
              <a:rPr lang="en-US" sz="1100">
                <a:solidFill>
                  <a:schemeClr val="dk1"/>
                </a:solidFill>
              </a:rPr>
            </a:br>
            <a:r>
              <a:rPr lang="en-US" sz="1100">
                <a:solidFill>
                  <a:schemeClr val="dk1"/>
                </a:solidFill>
              </a:rPr>
              <a:t> “This is the critical takeaway…” → </a:t>
            </a:r>
            <a:r>
              <a:rPr i="1" lang="en-US" sz="1100">
                <a:solidFill>
                  <a:schemeClr val="dk1"/>
                </a:solidFill>
              </a:rPr>
              <a:t>critical</a:t>
            </a:r>
            <a:r>
              <a:rPr lang="en-US" sz="1100">
                <a:solidFill>
                  <a:schemeClr val="dk1"/>
                </a:solidFill>
              </a:rPr>
              <a:t> is visually emphasized</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Intelligent Annotation &amp; Visual Guidance</a:t>
            </a:r>
            <a:br>
              <a:rPr b="1" lang="en-US" sz="1100">
                <a:solidFill>
                  <a:schemeClr val="dk1"/>
                </a:solidFill>
              </a:rPr>
            </a:br>
            <a:r>
              <a:rPr lang="en-US" sz="1100">
                <a:solidFill>
                  <a:schemeClr val="dk1"/>
                </a:solidFill>
              </a:rPr>
              <a:t> Draws attention to relevant areas in charts, images, and diagrams based on verbal cues.</a:t>
            </a:r>
            <a:br>
              <a:rPr lang="en-US" sz="1100">
                <a:solidFill>
                  <a:schemeClr val="dk1"/>
                </a:solidFill>
              </a:rPr>
            </a:br>
            <a:r>
              <a:rPr lang="en-US" sz="1100">
                <a:solidFill>
                  <a:schemeClr val="dk1"/>
                </a:solidFill>
              </a:rPr>
              <a:t> </a:t>
            </a:r>
            <a:r>
              <a:rPr i="1" lang="en-US" sz="1100">
                <a:solidFill>
                  <a:schemeClr val="dk1"/>
                </a:solidFill>
              </a:rPr>
              <a:t>Examples:</a:t>
            </a:r>
            <a:br>
              <a:rPr i="1" lang="en-US" sz="1100">
                <a:solidFill>
                  <a:schemeClr val="dk1"/>
                </a:solidFill>
              </a:rPr>
            </a:br>
            <a:r>
              <a:rPr lang="en-US" sz="1100">
                <a:solidFill>
                  <a:schemeClr val="dk1"/>
                </a:solidFill>
              </a:rPr>
              <a:t> “As you can see in the top-left corner…” → Area is subtly circled</a:t>
            </a:r>
            <a:br>
              <a:rPr lang="en-US" sz="1100">
                <a:solidFill>
                  <a:schemeClr val="dk1"/>
                </a:solidFill>
              </a:rPr>
            </a:br>
            <a:r>
              <a:rPr lang="en-US" sz="1100">
                <a:solidFill>
                  <a:schemeClr val="dk1"/>
                </a:solidFill>
              </a:rPr>
              <a:t> “Watch this line trend upwards…” → The line is dynamically emphasized</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Context &amp; Intent Awareness</a:t>
            </a:r>
            <a:br>
              <a:rPr b="1" lang="en-US" sz="1100">
                <a:solidFill>
                  <a:schemeClr val="dk1"/>
                </a:solidFill>
              </a:rPr>
            </a:br>
            <a:r>
              <a:rPr lang="en-US" sz="1100">
                <a:solidFill>
                  <a:schemeClr val="dk1"/>
                </a:solidFill>
              </a:rPr>
              <a:t> Goes beyond predefined voice commands by understanding presentation context and speaker intent, enabling smooth, adaptive interactions in real time</a:t>
            </a:r>
            <a:endParaRPr sz="1100">
              <a:solidFill>
                <a:schemeClr val="dk1"/>
              </a:solidFill>
            </a:endParaRPr>
          </a:p>
          <a:p>
            <a:pPr indent="0" lvl="0" marL="0" rtl="0" algn="l">
              <a:lnSpc>
                <a:spcPct val="150000"/>
              </a:lnSpc>
              <a:spcBef>
                <a:spcPts val="1200"/>
              </a:spcBef>
              <a:spcAft>
                <a:spcPts val="1200"/>
              </a:spcAft>
              <a:buNone/>
            </a:pPr>
            <a:r>
              <a:t/>
            </a:r>
            <a:endParaRPr b="1" sz="1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type="title"/>
          </p:nvPr>
        </p:nvSpPr>
        <p:spPr>
          <a:xfrm>
            <a:off x="2673048" y="296472"/>
            <a:ext cx="6683400" cy="554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a:solidFill>
                  <a:srgbClr val="BF0000"/>
                </a:solidFill>
                <a:latin typeface="Times New Roman"/>
                <a:ea typeface="Times New Roman"/>
                <a:cs typeface="Times New Roman"/>
                <a:sym typeface="Times New Roman"/>
              </a:rPr>
              <a:t>Methodology/ Algorithms</a:t>
            </a:r>
            <a:endParaRPr/>
          </a:p>
        </p:txBody>
      </p:sp>
      <p:sp>
        <p:nvSpPr>
          <p:cNvPr id="81" name="Google Shape;81;p4"/>
          <p:cNvSpPr txBox="1"/>
          <p:nvPr/>
        </p:nvSpPr>
        <p:spPr>
          <a:xfrm>
            <a:off x="412825" y="1060600"/>
            <a:ext cx="7284000" cy="49929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rgbClr val="0F1115"/>
              </a:buClr>
              <a:buSzPts val="1200"/>
              <a:buFont typeface="Roboto"/>
              <a:buAutoNum type="arabicPeriod"/>
            </a:pPr>
            <a:r>
              <a:rPr lang="en-US">
                <a:solidFill>
                  <a:srgbClr val="0F1115"/>
                </a:solidFill>
                <a:highlight>
                  <a:srgbClr val="FFFFFF"/>
                </a:highlight>
                <a:latin typeface="Roboto"/>
                <a:ea typeface="Roboto"/>
                <a:cs typeface="Roboto"/>
                <a:sym typeface="Roboto"/>
              </a:rPr>
              <a:t>Initialize: Load slides and start microphone input. Python with </a:t>
            </a:r>
            <a:r>
              <a:rPr lang="en-US" sz="1150">
                <a:solidFill>
                  <a:srgbClr val="0F1115"/>
                </a:solidFill>
                <a:highlight>
                  <a:srgbClr val="EBEEF2"/>
                </a:highlight>
                <a:latin typeface="Roboto Mono"/>
                <a:ea typeface="Roboto Mono"/>
                <a:cs typeface="Roboto Mono"/>
                <a:sym typeface="Roboto Mono"/>
              </a:rPr>
              <a:t>pvporcupine</a:t>
            </a:r>
            <a:r>
              <a:rPr lang="en-US">
                <a:solidFill>
                  <a:srgbClr val="0F1115"/>
                </a:solidFill>
                <a:highlight>
                  <a:srgbClr val="FFFFFF"/>
                </a:highlight>
                <a:latin typeface="Roboto"/>
                <a:ea typeface="Roboto"/>
                <a:cs typeface="Roboto"/>
                <a:sym typeface="Roboto"/>
              </a:rPr>
              <a:t>/</a:t>
            </a:r>
            <a:r>
              <a:rPr lang="en-US" sz="1150">
                <a:solidFill>
                  <a:srgbClr val="0F1115"/>
                </a:solidFill>
                <a:highlight>
                  <a:srgbClr val="EBEEF2"/>
                </a:highlight>
                <a:latin typeface="Roboto Mono"/>
                <a:ea typeface="Roboto Mono"/>
                <a:cs typeface="Roboto Mono"/>
                <a:sym typeface="Roboto Mono"/>
              </a:rPr>
              <a:t>pvrhino</a:t>
            </a:r>
            <a:r>
              <a:rPr lang="en-US">
                <a:solidFill>
                  <a:srgbClr val="0F1115"/>
                </a:solidFill>
                <a:highlight>
                  <a:srgbClr val="FFFFFF"/>
                </a:highlight>
                <a:latin typeface="Roboto"/>
                <a:ea typeface="Roboto"/>
                <a:cs typeface="Roboto"/>
                <a:sym typeface="Roboto"/>
              </a:rPr>
              <a:t> to initialize the Speech-to-Intent engine.</a:t>
            </a:r>
            <a:endParaRPr>
              <a:solidFill>
                <a:srgbClr val="0F1115"/>
              </a:solidFill>
              <a:highlight>
                <a:srgbClr val="FFFFFF"/>
              </a:highlight>
              <a:latin typeface="Roboto"/>
              <a:ea typeface="Roboto"/>
              <a:cs typeface="Roboto"/>
              <a:sym typeface="Roboto"/>
            </a:endParaRPr>
          </a:p>
          <a:p>
            <a:pPr indent="-317500" lvl="0" marL="457200" rtl="0" algn="l">
              <a:lnSpc>
                <a:spcPct val="115000"/>
              </a:lnSpc>
              <a:spcBef>
                <a:spcPts val="0"/>
              </a:spcBef>
              <a:spcAft>
                <a:spcPts val="0"/>
              </a:spcAft>
              <a:buClr>
                <a:srgbClr val="0F1115"/>
              </a:buClr>
              <a:buSzPts val="1400"/>
              <a:buFont typeface="Roboto"/>
              <a:buAutoNum type="arabicPeriod"/>
            </a:pPr>
            <a:r>
              <a:rPr lang="en-US">
                <a:solidFill>
                  <a:srgbClr val="0F1115"/>
                </a:solidFill>
                <a:highlight>
                  <a:srgbClr val="FFFFFF"/>
                </a:highlight>
                <a:latin typeface="Roboto"/>
                <a:ea typeface="Roboto"/>
                <a:cs typeface="Roboto"/>
                <a:sym typeface="Roboto"/>
              </a:rPr>
              <a:t>Map Slides: Use OCR to catalog all text and objects on each slide into a searchable map. Tesseract OCR to extract text and OpenCV with a pre-trained model to detect graphical elements</a:t>
            </a:r>
            <a:endParaRPr>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US">
                <a:solidFill>
                  <a:srgbClr val="0F1115"/>
                </a:solidFill>
                <a:highlight>
                  <a:srgbClr val="FFFFFF"/>
                </a:highlight>
                <a:latin typeface="Roboto"/>
                <a:ea typeface="Roboto"/>
                <a:cs typeface="Roboto"/>
                <a:sym typeface="Roboto"/>
              </a:rPr>
              <a:t>Listen &amp; Process: Continuously capture audio, detect speech, and feed it to a Speech-to-Intent engine.  Picovoice Rhino (for intent) and a simple FFT library like </a:t>
            </a:r>
            <a:r>
              <a:rPr lang="en-US" sz="1150">
                <a:solidFill>
                  <a:srgbClr val="0F1115"/>
                </a:solidFill>
                <a:highlight>
                  <a:srgbClr val="EBEEF2"/>
                </a:highlight>
                <a:latin typeface="Roboto Mono"/>
                <a:ea typeface="Roboto Mono"/>
                <a:cs typeface="Roboto Mono"/>
                <a:sym typeface="Roboto Mono"/>
              </a:rPr>
              <a:t>numpy.fft</a:t>
            </a:r>
            <a:r>
              <a:rPr lang="en-US">
                <a:solidFill>
                  <a:srgbClr val="0F1115"/>
                </a:solidFill>
                <a:highlight>
                  <a:srgbClr val="FFFFFF"/>
                </a:highlight>
                <a:latin typeface="Roboto"/>
                <a:ea typeface="Roboto"/>
                <a:cs typeface="Roboto"/>
                <a:sym typeface="Roboto"/>
              </a:rPr>
              <a:t> (for analysis of pitch/pause).</a:t>
            </a:r>
            <a:endParaRPr>
              <a:solidFill>
                <a:srgbClr val="0F1115"/>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0F1115"/>
              </a:buClr>
              <a:buSzPts val="1200"/>
              <a:buFont typeface="Roboto"/>
              <a:buAutoNum type="arabicPeriod"/>
            </a:pPr>
            <a:r>
              <a:rPr lang="en-US">
                <a:solidFill>
                  <a:srgbClr val="0F1115"/>
                </a:solidFill>
                <a:highlight>
                  <a:srgbClr val="FFFFFF"/>
                </a:highlight>
                <a:latin typeface="Roboto"/>
                <a:ea typeface="Roboto"/>
                <a:cs typeface="Roboto"/>
                <a:sym typeface="Roboto"/>
              </a:rPr>
              <a:t>Parse Command: Engine outputs a structured command (e.g., </a:t>
            </a:r>
            <a:r>
              <a:rPr lang="en-US" sz="1250">
                <a:solidFill>
                  <a:srgbClr val="0F1115"/>
                </a:solidFill>
                <a:highlight>
                  <a:srgbClr val="EBEEF2"/>
                </a:highlight>
                <a:latin typeface="Roboto Mono"/>
                <a:ea typeface="Roboto Mono"/>
                <a:cs typeface="Roboto Mono"/>
                <a:sym typeface="Roboto Mono"/>
              </a:rPr>
              <a:t>{intent: 'highlight', target: 'key metric'}</a:t>
            </a:r>
            <a:r>
              <a:rPr lang="en-US">
                <a:solidFill>
                  <a:srgbClr val="0F1115"/>
                </a:solidFill>
                <a:highlight>
                  <a:srgbClr val="FFFFFF"/>
                </a:highlight>
                <a:latin typeface="Roboto"/>
                <a:ea typeface="Roboto"/>
                <a:cs typeface="Roboto"/>
                <a:sym typeface="Roboto"/>
              </a:rPr>
              <a:t>).</a:t>
            </a:r>
            <a:endParaRPr>
              <a:solidFill>
                <a:srgbClr val="0F1115"/>
              </a:solidFill>
              <a:highlight>
                <a:srgbClr val="FFFFFF"/>
              </a:highlight>
              <a:latin typeface="Roboto"/>
              <a:ea typeface="Roboto"/>
              <a:cs typeface="Roboto"/>
              <a:sym typeface="Roboto"/>
            </a:endParaRPr>
          </a:p>
          <a:p>
            <a:pPr indent="-317500" lvl="0" marL="457200" rtl="0" algn="l">
              <a:lnSpc>
                <a:spcPct val="115000"/>
              </a:lnSpc>
              <a:spcBef>
                <a:spcPts val="0"/>
              </a:spcBef>
              <a:spcAft>
                <a:spcPts val="0"/>
              </a:spcAft>
              <a:buClr>
                <a:srgbClr val="0F1115"/>
              </a:buClr>
              <a:buSzPts val="1400"/>
              <a:buFont typeface="Roboto"/>
              <a:buAutoNum type="arabicPeriod"/>
            </a:pPr>
            <a:r>
              <a:rPr lang="en-US">
                <a:solidFill>
                  <a:srgbClr val="0F1115"/>
                </a:solidFill>
                <a:highlight>
                  <a:srgbClr val="FFFFFF"/>
                </a:highlight>
                <a:latin typeface="Roboto"/>
                <a:ea typeface="Roboto"/>
                <a:cs typeface="Roboto"/>
                <a:sym typeface="Roboto"/>
              </a:rPr>
              <a:t>Find Target: Use the slide map to locate the coordinates of the mentioned "key metric" on the current slide. Fuzzy matching algorithm to match the spoken word from Rhino's slot to the text in the slide map from Step 2.</a:t>
            </a:r>
            <a:endParaRPr>
              <a:solidFill>
                <a:srgbClr val="0F1115"/>
              </a:solidFill>
              <a:highlight>
                <a:srgbClr val="FFFFFF"/>
              </a:highlight>
              <a:latin typeface="Roboto"/>
              <a:ea typeface="Roboto"/>
              <a:cs typeface="Roboto"/>
              <a:sym typeface="Roboto"/>
            </a:endParaRPr>
          </a:p>
          <a:p>
            <a:pPr indent="-317500" lvl="0" marL="457200" rtl="0" algn="l">
              <a:lnSpc>
                <a:spcPct val="115000"/>
              </a:lnSpc>
              <a:spcBef>
                <a:spcPts val="0"/>
              </a:spcBef>
              <a:spcAft>
                <a:spcPts val="0"/>
              </a:spcAft>
              <a:buClr>
                <a:srgbClr val="0F1115"/>
              </a:buClr>
              <a:buSzPts val="1400"/>
              <a:buFont typeface="Roboto"/>
              <a:buAutoNum type="arabicPeriod"/>
            </a:pPr>
            <a:r>
              <a:rPr lang="en-US">
                <a:solidFill>
                  <a:srgbClr val="0F1115"/>
                </a:solidFill>
                <a:highlight>
                  <a:srgbClr val="FFFFFF"/>
                </a:highlight>
                <a:latin typeface="Roboto"/>
                <a:ea typeface="Roboto"/>
                <a:cs typeface="Roboto"/>
                <a:sym typeface="Roboto"/>
              </a:rPr>
              <a:t>Execute Action: Trigger the correct function—press a key to advance or draw a graphic at the target coordinates. Google Slides API / Microsoft Graph API to navigate and  Fabric.js (web) to draw annotations. </a:t>
            </a:r>
            <a:endParaRPr>
              <a:solidFill>
                <a:srgbClr val="0F1115"/>
              </a:solidFill>
              <a:highlight>
                <a:srgbClr val="FFFFFF"/>
              </a:highlight>
              <a:latin typeface="Roboto"/>
              <a:ea typeface="Roboto"/>
              <a:cs typeface="Roboto"/>
              <a:sym typeface="Roboto"/>
            </a:endParaRPr>
          </a:p>
          <a:p>
            <a:pPr indent="-317500" lvl="0" marL="457200" rtl="0" algn="l">
              <a:lnSpc>
                <a:spcPct val="115000"/>
              </a:lnSpc>
              <a:spcBef>
                <a:spcPts val="0"/>
              </a:spcBef>
              <a:spcAft>
                <a:spcPts val="0"/>
              </a:spcAft>
              <a:buClr>
                <a:srgbClr val="0F1115"/>
              </a:buClr>
              <a:buSzPts val="1400"/>
              <a:buFont typeface="Roboto"/>
              <a:buAutoNum type="arabicPeriod"/>
            </a:pPr>
            <a:r>
              <a:rPr lang="en-US">
                <a:solidFill>
                  <a:srgbClr val="0F1115"/>
                </a:solidFill>
                <a:highlight>
                  <a:srgbClr val="FFFFFF"/>
                </a:highlight>
                <a:latin typeface="Roboto"/>
                <a:ea typeface="Roboto"/>
                <a:cs typeface="Roboto"/>
                <a:sym typeface="Roboto"/>
              </a:rPr>
              <a:t>Loop &amp; Handle Errors: Return to Step 3. If a mistake happens, a vocal "undo" command reverses the last action.</a:t>
            </a:r>
            <a:endParaRPr>
              <a:solidFill>
                <a:srgbClr val="0F1115"/>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sz="4800">
              <a:solidFill>
                <a:srgbClr val="BF0000"/>
              </a:solidFill>
              <a:latin typeface="Times New Roman"/>
              <a:ea typeface="Times New Roman"/>
              <a:cs typeface="Times New Roman"/>
              <a:sym typeface="Times New Roman"/>
            </a:endParaRPr>
          </a:p>
        </p:txBody>
      </p:sp>
      <p:pic>
        <p:nvPicPr>
          <p:cNvPr id="82" name="Google Shape;82;p4" title="_- visual selection.png"/>
          <p:cNvPicPr preferRelativeResize="0"/>
          <p:nvPr/>
        </p:nvPicPr>
        <p:blipFill>
          <a:blip r:embed="rId3">
            <a:alphaModFix/>
          </a:blip>
          <a:stretch>
            <a:fillRect/>
          </a:stretch>
        </p:blipFill>
        <p:spPr>
          <a:xfrm>
            <a:off x="7902276" y="983638"/>
            <a:ext cx="3746650" cy="4890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ph type="title"/>
          </p:nvPr>
        </p:nvSpPr>
        <p:spPr>
          <a:xfrm>
            <a:off x="2443975" y="431180"/>
            <a:ext cx="6683422" cy="489878"/>
          </a:xfrm>
          <a:prstGeom prst="rect">
            <a:avLst/>
          </a:prstGeom>
          <a:noFill/>
          <a:ln>
            <a:noFill/>
          </a:ln>
        </p:spPr>
        <p:txBody>
          <a:bodyPr anchorCtr="0" anchor="t" bIns="0" lIns="0" spcFirstLastPara="1" rIns="0" wrap="square" tIns="12700">
            <a:spAutoFit/>
          </a:bodyPr>
          <a:lstStyle/>
          <a:p>
            <a:pPr indent="0" lvl="0" marL="2049145" rtl="0" algn="l">
              <a:lnSpc>
                <a:spcPct val="100000"/>
              </a:lnSpc>
              <a:spcBef>
                <a:spcPts val="0"/>
              </a:spcBef>
              <a:spcAft>
                <a:spcPts val="0"/>
              </a:spcAft>
              <a:buSzPts val="1400"/>
              <a:buNone/>
            </a:pPr>
            <a:r>
              <a:rPr b="1" lang="en-US" sz="3100">
                <a:solidFill>
                  <a:srgbClr val="BF0000"/>
                </a:solidFill>
                <a:latin typeface="Times New Roman"/>
                <a:ea typeface="Times New Roman"/>
                <a:cs typeface="Times New Roman"/>
                <a:sym typeface="Times New Roman"/>
              </a:rPr>
              <a:t>Problem Statement 2</a:t>
            </a:r>
            <a:endParaRPr b="1" sz="3100">
              <a:solidFill>
                <a:srgbClr val="BF0000"/>
              </a:solidFill>
              <a:latin typeface="Times New Roman"/>
              <a:ea typeface="Times New Roman"/>
              <a:cs typeface="Times New Roman"/>
              <a:sym typeface="Times New Roman"/>
            </a:endParaRPr>
          </a:p>
        </p:txBody>
      </p:sp>
      <p:sp>
        <p:nvSpPr>
          <p:cNvPr id="88" name="Google Shape;88;p5"/>
          <p:cNvSpPr txBox="1"/>
          <p:nvPr/>
        </p:nvSpPr>
        <p:spPr>
          <a:xfrm>
            <a:off x="686625" y="921050"/>
            <a:ext cx="7509900" cy="4622400"/>
          </a:xfrm>
          <a:prstGeom prst="rect">
            <a:avLst/>
          </a:prstGeom>
          <a:noFill/>
          <a:ln>
            <a:noFill/>
          </a:ln>
        </p:spPr>
        <p:txBody>
          <a:bodyPr anchorCtr="0" anchor="t" bIns="91425" lIns="91425" spcFirstLastPara="1" rIns="91425" wrap="square" tIns="91425">
            <a:noAutofit/>
          </a:bodyPr>
          <a:lstStyle/>
          <a:p>
            <a:pPr indent="-368300" lvl="0" marL="457200" rtl="0" algn="just">
              <a:spcBef>
                <a:spcPts val="1000"/>
              </a:spcBef>
              <a:spcAft>
                <a:spcPts val="0"/>
              </a:spcAft>
              <a:buClr>
                <a:schemeClr val="dk1"/>
              </a:buClr>
              <a:buSzPts val="2200"/>
              <a:buFont typeface="Times New Roman"/>
              <a:buChar char="●"/>
            </a:pPr>
            <a:r>
              <a:rPr lang="en-US" sz="1700">
                <a:solidFill>
                  <a:schemeClr val="dk1"/>
                </a:solidFill>
                <a:latin typeface="Times New Roman"/>
                <a:ea typeface="Times New Roman"/>
                <a:cs typeface="Times New Roman"/>
                <a:sym typeface="Times New Roman"/>
              </a:rPr>
              <a:t>Learners often understand concepts during study but struggle to recall </a:t>
            </a:r>
            <a:r>
              <a:rPr b="1" lang="en-US" sz="1700">
                <a:solidFill>
                  <a:schemeClr val="dk1"/>
                </a:solidFill>
                <a:latin typeface="Times New Roman"/>
                <a:ea typeface="Times New Roman"/>
                <a:cs typeface="Times New Roman"/>
                <a:sym typeface="Times New Roman"/>
              </a:rPr>
              <a:t>structured points, definitions, and characteristics</a:t>
            </a:r>
            <a:r>
              <a:rPr lang="en-US" sz="1700">
                <a:solidFill>
                  <a:schemeClr val="dk1"/>
                </a:solidFill>
                <a:latin typeface="Times New Roman"/>
                <a:ea typeface="Times New Roman"/>
                <a:cs typeface="Times New Roman"/>
                <a:sym typeface="Times New Roman"/>
              </a:rPr>
              <a:t> during revision or exams.</a:t>
            </a:r>
            <a:endParaRPr sz="1700">
              <a:solidFill>
                <a:schemeClr val="dk1"/>
              </a:solidFill>
              <a:latin typeface="Times New Roman"/>
              <a:ea typeface="Times New Roman"/>
              <a:cs typeface="Times New Roman"/>
              <a:sym typeface="Times New Roman"/>
            </a:endParaRPr>
          </a:p>
          <a:p>
            <a:pPr indent="-368300" lvl="0" marL="457200" rtl="0" algn="just">
              <a:spcBef>
                <a:spcPts val="1000"/>
              </a:spcBef>
              <a:spcAft>
                <a:spcPts val="0"/>
              </a:spcAft>
              <a:buClr>
                <a:schemeClr val="dk1"/>
              </a:buClr>
              <a:buSzPts val="2200"/>
              <a:buFont typeface="Times New Roman"/>
              <a:buChar char="●"/>
            </a:pPr>
            <a:r>
              <a:rPr lang="en-US" sz="1700">
                <a:solidFill>
                  <a:schemeClr val="dk1"/>
                </a:solidFill>
                <a:latin typeface="Times New Roman"/>
                <a:ea typeface="Times New Roman"/>
                <a:cs typeface="Times New Roman"/>
                <a:sym typeface="Times New Roman"/>
              </a:rPr>
              <a:t>Learning resources such as </a:t>
            </a:r>
            <a:r>
              <a:rPr b="1" lang="en-US" sz="1700">
                <a:solidFill>
                  <a:schemeClr val="dk1"/>
                </a:solidFill>
                <a:latin typeface="Times New Roman"/>
                <a:ea typeface="Times New Roman"/>
                <a:cs typeface="Times New Roman"/>
                <a:sym typeface="Times New Roman"/>
              </a:rPr>
              <a:t>PPTs, PDFs, and documents</a:t>
            </a:r>
            <a:r>
              <a:rPr lang="en-US" sz="1700">
                <a:solidFill>
                  <a:schemeClr val="dk1"/>
                </a:solidFill>
                <a:latin typeface="Times New Roman"/>
                <a:ea typeface="Times New Roman"/>
                <a:cs typeface="Times New Roman"/>
                <a:sym typeface="Times New Roman"/>
              </a:rPr>
              <a:t> are available on platforms like Google Classroom and college repositories, but accessing </a:t>
            </a:r>
            <a:r>
              <a:rPr b="1" lang="en-US" sz="1700">
                <a:solidFill>
                  <a:schemeClr val="dk1"/>
                </a:solidFill>
                <a:latin typeface="Times New Roman"/>
                <a:ea typeface="Times New Roman"/>
                <a:cs typeface="Times New Roman"/>
                <a:sym typeface="Times New Roman"/>
              </a:rPr>
              <a:t>specific conceptual information</a:t>
            </a:r>
            <a:r>
              <a:rPr lang="en-US" sz="1700">
                <a:solidFill>
                  <a:schemeClr val="dk1"/>
                </a:solidFill>
                <a:latin typeface="Times New Roman"/>
                <a:ea typeface="Times New Roman"/>
                <a:cs typeface="Times New Roman"/>
                <a:sym typeface="Times New Roman"/>
              </a:rPr>
              <a:t> is difficult.</a:t>
            </a:r>
            <a:endParaRPr sz="1700">
              <a:solidFill>
                <a:schemeClr val="dk1"/>
              </a:solidFill>
              <a:latin typeface="Times New Roman"/>
              <a:ea typeface="Times New Roman"/>
              <a:cs typeface="Times New Roman"/>
              <a:sym typeface="Times New Roman"/>
            </a:endParaRPr>
          </a:p>
          <a:p>
            <a:pPr indent="-368300" lvl="0" marL="457200" rtl="0" algn="just">
              <a:spcBef>
                <a:spcPts val="1000"/>
              </a:spcBef>
              <a:spcAft>
                <a:spcPts val="0"/>
              </a:spcAft>
              <a:buClr>
                <a:schemeClr val="dk1"/>
              </a:buClr>
              <a:buSzPts val="2200"/>
              <a:buFont typeface="Times New Roman"/>
              <a:buChar char="●"/>
            </a:pPr>
            <a:r>
              <a:rPr lang="en-US" sz="1700">
                <a:solidFill>
                  <a:schemeClr val="dk1"/>
                </a:solidFill>
                <a:latin typeface="Times New Roman"/>
                <a:ea typeface="Times New Roman"/>
                <a:cs typeface="Times New Roman"/>
                <a:sym typeface="Times New Roman"/>
              </a:rPr>
              <a:t>Students must manually browse multiple files or depend on </a:t>
            </a:r>
            <a:r>
              <a:rPr b="1" lang="en-US" sz="1700">
                <a:solidFill>
                  <a:schemeClr val="dk1"/>
                </a:solidFill>
                <a:latin typeface="Times New Roman"/>
                <a:ea typeface="Times New Roman"/>
                <a:cs typeface="Times New Roman"/>
                <a:sym typeface="Times New Roman"/>
              </a:rPr>
              <a:t>keyword-based searches</a:t>
            </a:r>
            <a:r>
              <a:rPr lang="en-US" sz="1700">
                <a:solidFill>
                  <a:schemeClr val="dk1"/>
                </a:solidFill>
                <a:latin typeface="Times New Roman"/>
                <a:ea typeface="Times New Roman"/>
                <a:cs typeface="Times New Roman"/>
                <a:sym typeface="Times New Roman"/>
              </a:rPr>
              <a:t>, which are inefficient and time-consuming.</a:t>
            </a:r>
            <a:endParaRPr sz="1700">
              <a:solidFill>
                <a:schemeClr val="dk1"/>
              </a:solidFill>
              <a:latin typeface="Times New Roman"/>
              <a:ea typeface="Times New Roman"/>
              <a:cs typeface="Times New Roman"/>
              <a:sym typeface="Times New Roman"/>
            </a:endParaRPr>
          </a:p>
          <a:p>
            <a:pPr indent="-368300" lvl="0" marL="457200" rtl="0" algn="just">
              <a:spcBef>
                <a:spcPts val="1000"/>
              </a:spcBef>
              <a:spcAft>
                <a:spcPts val="0"/>
              </a:spcAft>
              <a:buClr>
                <a:schemeClr val="dk1"/>
              </a:buClr>
              <a:buSzPts val="2200"/>
              <a:buFont typeface="Times New Roman"/>
              <a:buChar char="●"/>
            </a:pPr>
            <a:r>
              <a:rPr lang="en-US" sz="1700">
                <a:solidFill>
                  <a:schemeClr val="dk1"/>
                </a:solidFill>
                <a:latin typeface="Times New Roman"/>
                <a:ea typeface="Times New Roman"/>
                <a:cs typeface="Times New Roman"/>
                <a:sym typeface="Times New Roman"/>
              </a:rPr>
              <a:t>Learning materials contain </a:t>
            </a:r>
            <a:r>
              <a:rPr b="1" lang="en-US" sz="1700">
                <a:solidFill>
                  <a:schemeClr val="dk1"/>
                </a:solidFill>
                <a:latin typeface="Times New Roman"/>
                <a:ea typeface="Times New Roman"/>
                <a:cs typeface="Times New Roman"/>
                <a:sym typeface="Times New Roman"/>
              </a:rPr>
              <a:t>lengthy explanations, examples, and illustrations</a:t>
            </a:r>
            <a:r>
              <a:rPr lang="en-US" sz="1700">
                <a:solidFill>
                  <a:schemeClr val="dk1"/>
                </a:solidFill>
                <a:latin typeface="Times New Roman"/>
                <a:ea typeface="Times New Roman"/>
                <a:cs typeface="Times New Roman"/>
                <a:sym typeface="Times New Roman"/>
              </a:rPr>
              <a:t>, making quick information retrieval challenging.</a:t>
            </a:r>
            <a:endParaRPr sz="1700">
              <a:solidFill>
                <a:schemeClr val="dk1"/>
              </a:solidFill>
              <a:latin typeface="Times New Roman"/>
              <a:ea typeface="Times New Roman"/>
              <a:cs typeface="Times New Roman"/>
              <a:sym typeface="Times New Roman"/>
            </a:endParaRPr>
          </a:p>
          <a:p>
            <a:pPr indent="-368300" lvl="0" marL="457200" rtl="0" algn="just">
              <a:spcBef>
                <a:spcPts val="1000"/>
              </a:spcBef>
              <a:spcAft>
                <a:spcPts val="0"/>
              </a:spcAft>
              <a:buClr>
                <a:schemeClr val="dk1"/>
              </a:buClr>
              <a:buSzPts val="2200"/>
              <a:buFont typeface="Times New Roman"/>
              <a:buChar char="●"/>
            </a:pPr>
            <a:r>
              <a:rPr lang="en-US" sz="1700">
                <a:solidFill>
                  <a:schemeClr val="dk1"/>
                </a:solidFill>
                <a:latin typeface="Times New Roman"/>
                <a:ea typeface="Times New Roman"/>
                <a:cs typeface="Times New Roman"/>
                <a:sym typeface="Times New Roman"/>
              </a:rPr>
              <a:t>As a result, students spend more time </a:t>
            </a:r>
            <a:r>
              <a:rPr b="1" lang="en-US" sz="1700">
                <a:solidFill>
                  <a:schemeClr val="dk1"/>
                </a:solidFill>
                <a:latin typeface="Times New Roman"/>
                <a:ea typeface="Times New Roman"/>
                <a:cs typeface="Times New Roman"/>
                <a:sym typeface="Times New Roman"/>
              </a:rPr>
              <a:t>searching for content</a:t>
            </a:r>
            <a:r>
              <a:rPr lang="en-US" sz="1700">
                <a:solidFill>
                  <a:schemeClr val="dk1"/>
                </a:solidFill>
                <a:latin typeface="Times New Roman"/>
                <a:ea typeface="Times New Roman"/>
                <a:cs typeface="Times New Roman"/>
                <a:sym typeface="Times New Roman"/>
              </a:rPr>
              <a:t> rather than revising or applying concepts.</a:t>
            </a:r>
            <a:endParaRPr sz="1700">
              <a:solidFill>
                <a:schemeClr val="dk1"/>
              </a:solidFill>
              <a:latin typeface="Times New Roman"/>
              <a:ea typeface="Times New Roman"/>
              <a:cs typeface="Times New Roman"/>
              <a:sym typeface="Times New Roman"/>
            </a:endParaRPr>
          </a:p>
          <a:p>
            <a:pPr indent="-368300" lvl="0" marL="457200" rtl="0" algn="just">
              <a:spcBef>
                <a:spcPts val="1000"/>
              </a:spcBef>
              <a:spcAft>
                <a:spcPts val="0"/>
              </a:spcAft>
              <a:buClr>
                <a:schemeClr val="dk1"/>
              </a:buClr>
              <a:buSzPts val="2200"/>
              <a:buFont typeface="Times New Roman"/>
              <a:buChar char="●"/>
            </a:pPr>
            <a:r>
              <a:rPr lang="en-US" sz="1700">
                <a:solidFill>
                  <a:schemeClr val="dk1"/>
                </a:solidFill>
                <a:latin typeface="Times New Roman"/>
                <a:ea typeface="Times New Roman"/>
                <a:cs typeface="Times New Roman"/>
                <a:sym typeface="Times New Roman"/>
              </a:rPr>
              <a:t>There is a need for an </a:t>
            </a:r>
            <a:r>
              <a:rPr b="1" lang="en-US" sz="1700">
                <a:solidFill>
                  <a:schemeClr val="dk1"/>
                </a:solidFill>
                <a:latin typeface="Times New Roman"/>
                <a:ea typeface="Times New Roman"/>
                <a:cs typeface="Times New Roman"/>
                <a:sym typeface="Times New Roman"/>
              </a:rPr>
              <a:t>intelligent, browser-based solution</a:t>
            </a:r>
            <a:r>
              <a:rPr lang="en-US" sz="1700">
                <a:solidFill>
                  <a:schemeClr val="dk1"/>
                </a:solidFill>
                <a:latin typeface="Times New Roman"/>
                <a:ea typeface="Times New Roman"/>
                <a:cs typeface="Times New Roman"/>
                <a:sym typeface="Times New Roman"/>
              </a:rPr>
              <a:t> that enables intuitive and efficient interaction with academic resources.</a:t>
            </a:r>
            <a:endParaRPr sz="1700">
              <a:solidFill>
                <a:schemeClr val="dk1"/>
              </a:solidFill>
              <a:latin typeface="Times New Roman"/>
              <a:ea typeface="Times New Roman"/>
              <a:cs typeface="Times New Roman"/>
              <a:sym typeface="Times New Roman"/>
            </a:endParaRPr>
          </a:p>
          <a:p>
            <a:pPr indent="0" lvl="0" marL="457200" rtl="0" algn="just">
              <a:spcBef>
                <a:spcPts val="1000"/>
              </a:spcBef>
              <a:spcAft>
                <a:spcPts val="0"/>
              </a:spcAft>
              <a:buNone/>
            </a:pPr>
            <a:r>
              <a:t/>
            </a:r>
            <a:endParaRPr sz="1700">
              <a:solidFill>
                <a:schemeClr val="dk1"/>
              </a:solidFill>
              <a:latin typeface="Times New Roman"/>
              <a:ea typeface="Times New Roman"/>
              <a:cs typeface="Times New Roman"/>
              <a:sym typeface="Times New Roman"/>
            </a:endParaRPr>
          </a:p>
        </p:txBody>
      </p:sp>
      <p:sp>
        <p:nvSpPr>
          <p:cNvPr id="89" name="Google Shape;89;p5"/>
          <p:cNvSpPr txBox="1"/>
          <p:nvPr/>
        </p:nvSpPr>
        <p:spPr>
          <a:xfrm>
            <a:off x="7620000" y="1247675"/>
            <a:ext cx="3969000" cy="49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4800">
              <a:solidFill>
                <a:srgbClr val="BF0000"/>
              </a:solidFill>
              <a:latin typeface="Times New Roman"/>
              <a:ea typeface="Times New Roman"/>
              <a:cs typeface="Times New Roman"/>
              <a:sym typeface="Times New Roman"/>
            </a:endParaRPr>
          </a:p>
        </p:txBody>
      </p:sp>
      <p:pic>
        <p:nvPicPr>
          <p:cNvPr id="90" name="Google Shape;90;p5"/>
          <p:cNvPicPr preferRelativeResize="0"/>
          <p:nvPr/>
        </p:nvPicPr>
        <p:blipFill rotWithShape="1">
          <a:blip r:embed="rId3">
            <a:alphaModFix/>
          </a:blip>
          <a:srcRect b="22140" l="19444" r="19156" t="26619"/>
          <a:stretch/>
        </p:blipFill>
        <p:spPr>
          <a:xfrm>
            <a:off x="8196425" y="1775200"/>
            <a:ext cx="3493075" cy="21352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6"/>
          <p:cNvSpPr txBox="1"/>
          <p:nvPr>
            <p:ph type="title"/>
          </p:nvPr>
        </p:nvSpPr>
        <p:spPr>
          <a:xfrm>
            <a:off x="2704308" y="312502"/>
            <a:ext cx="6683422" cy="56682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SzPts val="1400"/>
              <a:buNone/>
            </a:pPr>
            <a:r>
              <a:rPr b="1" lang="en-US">
                <a:solidFill>
                  <a:srgbClr val="BF0000"/>
                </a:solidFill>
                <a:latin typeface="Times New Roman"/>
                <a:ea typeface="Times New Roman"/>
                <a:cs typeface="Times New Roman"/>
                <a:sym typeface="Times New Roman"/>
              </a:rPr>
              <a:t>Solution 2</a:t>
            </a:r>
            <a:endParaRPr>
              <a:latin typeface="Times New Roman"/>
              <a:ea typeface="Times New Roman"/>
              <a:cs typeface="Times New Roman"/>
              <a:sym typeface="Times New Roman"/>
            </a:endParaRPr>
          </a:p>
        </p:txBody>
      </p:sp>
      <p:sp>
        <p:nvSpPr>
          <p:cNvPr id="96" name="Google Shape;96;p6"/>
          <p:cNvSpPr txBox="1"/>
          <p:nvPr/>
        </p:nvSpPr>
        <p:spPr>
          <a:xfrm>
            <a:off x="294850" y="1020900"/>
            <a:ext cx="11395800" cy="4785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Develop a </a:t>
            </a:r>
            <a:r>
              <a:rPr b="1" lang="en-US" sz="1800">
                <a:solidFill>
                  <a:schemeClr val="dk1"/>
                </a:solidFill>
                <a:latin typeface="Times New Roman"/>
                <a:ea typeface="Times New Roman"/>
                <a:cs typeface="Times New Roman"/>
                <a:sym typeface="Times New Roman"/>
              </a:rPr>
              <a:t>browser-based intelligent academic assistant (AI Bot)</a:t>
            </a:r>
            <a:r>
              <a:rPr lang="en-US" sz="1800">
                <a:solidFill>
                  <a:schemeClr val="dk1"/>
                </a:solidFill>
                <a:latin typeface="Times New Roman"/>
                <a:ea typeface="Times New Roman"/>
                <a:cs typeface="Times New Roman"/>
                <a:sym typeface="Times New Roman"/>
              </a:rPr>
              <a:t>.</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Upload all course-related materials (PPTs, PDFs, documents) into the system.</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Students interact with the bot using </a:t>
            </a:r>
            <a:r>
              <a:rPr b="1" lang="en-US" sz="1800">
                <a:solidFill>
                  <a:schemeClr val="dk1"/>
                </a:solidFill>
                <a:latin typeface="Times New Roman"/>
                <a:ea typeface="Times New Roman"/>
                <a:cs typeface="Times New Roman"/>
                <a:sym typeface="Times New Roman"/>
              </a:rPr>
              <a:t>natural language questions</a:t>
            </a:r>
            <a:r>
              <a:rPr lang="en-US" sz="1800">
                <a:solidFill>
                  <a:schemeClr val="dk1"/>
                </a:solidFill>
                <a:latin typeface="Times New Roman"/>
                <a:ea typeface="Times New Roman"/>
                <a:cs typeface="Times New Roman"/>
                <a:sym typeface="Times New Roman"/>
              </a:rPr>
              <a:t>.</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bot extracts answers </a:t>
            </a:r>
            <a:r>
              <a:rPr b="1" lang="en-US" sz="1800">
                <a:solidFill>
                  <a:schemeClr val="dk1"/>
                </a:solidFill>
                <a:latin typeface="Times New Roman"/>
                <a:ea typeface="Times New Roman"/>
                <a:cs typeface="Times New Roman"/>
                <a:sym typeface="Times New Roman"/>
              </a:rPr>
              <a:t>only from the uploaded documents</a:t>
            </a:r>
            <a:r>
              <a:rPr lang="en-US" sz="1800">
                <a:solidFill>
                  <a:schemeClr val="dk1"/>
                </a:solidFill>
                <a:latin typeface="Times New Roman"/>
                <a:ea typeface="Times New Roman"/>
                <a:cs typeface="Times New Roman"/>
                <a:sym typeface="Times New Roman"/>
              </a:rPr>
              <a:t>.</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Ensures:</a:t>
            </a:r>
            <a:endParaRPr sz="18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None/>
            </a:pPr>
            <a:r>
              <a:rPr lang="en-US" sz="1800">
                <a:solidFill>
                  <a:schemeClr val="dk1"/>
                </a:solidFill>
                <a:latin typeface="Times New Roman"/>
                <a:ea typeface="Times New Roman"/>
                <a:cs typeface="Times New Roman"/>
                <a:sym typeface="Times New Roman"/>
              </a:rPr>
              <a:t>1.</a:t>
            </a:r>
            <a:r>
              <a:rPr b="1" lang="en-US" sz="1800">
                <a:solidFill>
                  <a:schemeClr val="dk1"/>
                </a:solidFill>
                <a:latin typeface="Times New Roman"/>
                <a:ea typeface="Times New Roman"/>
                <a:cs typeface="Times New Roman"/>
                <a:sym typeface="Times New Roman"/>
              </a:rPr>
              <a:t>Syllabus-bound answers </a:t>
            </a:r>
            <a:endParaRPr b="1" sz="18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None/>
            </a:pPr>
            <a:r>
              <a:rPr b="1" lang="en-US" sz="1800">
                <a:solidFill>
                  <a:schemeClr val="dk1"/>
                </a:solidFill>
                <a:latin typeface="Times New Roman"/>
                <a:ea typeface="Times New Roman"/>
                <a:cs typeface="Times New Roman"/>
                <a:sym typeface="Times New Roman"/>
              </a:rPr>
              <a:t>2.High accuracy </a:t>
            </a:r>
            <a:endParaRPr b="1" sz="18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None/>
            </a:pPr>
            <a:r>
              <a:rPr b="1" lang="en-US" sz="1800">
                <a:solidFill>
                  <a:schemeClr val="dk1"/>
                </a:solidFill>
                <a:latin typeface="Times New Roman"/>
                <a:ea typeface="Times New Roman"/>
                <a:cs typeface="Times New Roman"/>
                <a:sym typeface="Times New Roman"/>
              </a:rPr>
              <a:t>3.No out-of-context or irrelevant content</a:t>
            </a:r>
            <a:endParaRPr b="1" sz="18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Eliminates manual searching and scrolling through multiple files.</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Enables </a:t>
            </a:r>
            <a:r>
              <a:rPr b="1" lang="en-US" sz="1800">
                <a:solidFill>
                  <a:schemeClr val="dk1"/>
                </a:solidFill>
                <a:latin typeface="Times New Roman"/>
                <a:ea typeface="Times New Roman"/>
                <a:cs typeface="Times New Roman"/>
                <a:sym typeface="Times New Roman"/>
              </a:rPr>
              <a:t>quick revision</a:t>
            </a:r>
            <a:r>
              <a:rPr lang="en-US" sz="1800">
                <a:solidFill>
                  <a:schemeClr val="dk1"/>
                </a:solidFill>
                <a:latin typeface="Times New Roman"/>
                <a:ea typeface="Times New Roman"/>
                <a:cs typeface="Times New Roman"/>
                <a:sym typeface="Times New Roman"/>
              </a:rPr>
              <a:t>, structured answers, and better exam preparation.</a:t>
            </a:r>
            <a:endParaRPr sz="1800">
              <a:solidFill>
                <a:srgbClr val="BF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7"/>
          <p:cNvSpPr txBox="1"/>
          <p:nvPr>
            <p:ph type="title"/>
          </p:nvPr>
        </p:nvSpPr>
        <p:spPr>
          <a:xfrm>
            <a:off x="2849273" y="502072"/>
            <a:ext cx="6683422" cy="553998"/>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a:solidFill>
                  <a:srgbClr val="BF0000"/>
                </a:solidFill>
                <a:latin typeface="Times New Roman"/>
                <a:ea typeface="Times New Roman"/>
                <a:cs typeface="Times New Roman"/>
                <a:sym typeface="Times New Roman"/>
              </a:rPr>
              <a:t>Methodology/ Algorithms</a:t>
            </a:r>
            <a:endParaRPr/>
          </a:p>
        </p:txBody>
      </p:sp>
      <p:sp>
        <p:nvSpPr>
          <p:cNvPr id="102" name="Google Shape;102;p7"/>
          <p:cNvSpPr txBox="1"/>
          <p:nvPr/>
        </p:nvSpPr>
        <p:spPr>
          <a:xfrm>
            <a:off x="320400" y="1056075"/>
            <a:ext cx="7345800" cy="45768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Clr>
                <a:schemeClr val="dk1"/>
              </a:buClr>
              <a:buSzPts val="1600"/>
              <a:buAutoNum type="arabicPeriod"/>
            </a:pPr>
            <a:r>
              <a:rPr b="1" lang="en-US" sz="1600">
                <a:solidFill>
                  <a:schemeClr val="dk1"/>
                </a:solidFill>
                <a:latin typeface="Roboto"/>
                <a:ea typeface="Roboto"/>
                <a:cs typeface="Roboto"/>
                <a:sym typeface="Roboto"/>
              </a:rPr>
              <a:t>Document Upload: </a:t>
            </a:r>
            <a:r>
              <a:rPr lang="en-US" sz="1600">
                <a:solidFill>
                  <a:schemeClr val="dk1"/>
                </a:solidFill>
                <a:latin typeface="Roboto"/>
                <a:ea typeface="Roboto"/>
                <a:cs typeface="Roboto"/>
                <a:sym typeface="Roboto"/>
              </a:rPr>
              <a:t>All academic resources such as PPTs, PDFs, and lecture notes are uploaded into the system to form the knowledge base.</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latin typeface="Roboto"/>
                <a:ea typeface="Roboto"/>
                <a:cs typeface="Roboto"/>
                <a:sym typeface="Roboto"/>
              </a:rPr>
              <a:t>Data Preprocessing: </a:t>
            </a:r>
            <a:r>
              <a:rPr lang="en-US" sz="1600">
                <a:solidFill>
                  <a:schemeClr val="dk1"/>
                </a:solidFill>
                <a:latin typeface="Roboto"/>
                <a:ea typeface="Roboto"/>
                <a:cs typeface="Roboto"/>
                <a:sym typeface="Roboto"/>
              </a:rPr>
              <a:t>The uploaded documents are processed to extract text and organize the content into meaningful sections.</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latin typeface="Roboto"/>
                <a:ea typeface="Roboto"/>
                <a:cs typeface="Roboto"/>
                <a:sym typeface="Roboto"/>
              </a:rPr>
              <a:t>Knowledge Indexing: </a:t>
            </a:r>
            <a:r>
              <a:rPr lang="en-US" sz="1600">
                <a:solidFill>
                  <a:schemeClr val="dk1"/>
                </a:solidFill>
                <a:latin typeface="Roboto"/>
                <a:ea typeface="Roboto"/>
                <a:cs typeface="Roboto"/>
                <a:sym typeface="Roboto"/>
              </a:rPr>
              <a:t>The processed content is converted into semantic representations and stored in a searchable database for efficient retrieval.</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latin typeface="Roboto"/>
                <a:ea typeface="Roboto"/>
                <a:cs typeface="Roboto"/>
                <a:sym typeface="Roboto"/>
              </a:rPr>
              <a:t>User Query Input: </a:t>
            </a:r>
            <a:r>
              <a:rPr lang="en-US" sz="1600">
                <a:solidFill>
                  <a:schemeClr val="dk1"/>
                </a:solidFill>
                <a:latin typeface="Roboto"/>
                <a:ea typeface="Roboto"/>
                <a:cs typeface="Roboto"/>
                <a:sym typeface="Roboto"/>
              </a:rPr>
              <a:t>Students interact with the system by entering natural language questions through a browser-based interface.</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latin typeface="Roboto"/>
                <a:ea typeface="Roboto"/>
                <a:cs typeface="Roboto"/>
                <a:sym typeface="Roboto"/>
              </a:rPr>
              <a:t>Relevant Content Retrieval: </a:t>
            </a:r>
            <a:r>
              <a:rPr lang="en-US" sz="1600">
                <a:solidFill>
                  <a:schemeClr val="dk1"/>
                </a:solidFill>
                <a:latin typeface="Roboto"/>
                <a:ea typeface="Roboto"/>
                <a:cs typeface="Roboto"/>
                <a:sym typeface="Roboto"/>
              </a:rPr>
              <a:t>The system analyzes the user query and retrieves the most relevant content strictly from the uploaded documents.</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latin typeface="Roboto"/>
                <a:ea typeface="Roboto"/>
                <a:cs typeface="Roboto"/>
                <a:sym typeface="Roboto"/>
              </a:rPr>
              <a:t>Answer Generation: </a:t>
            </a:r>
            <a:r>
              <a:rPr lang="en-US" sz="1600">
                <a:solidFill>
                  <a:schemeClr val="dk1"/>
                </a:solidFill>
                <a:latin typeface="Roboto"/>
                <a:ea typeface="Roboto"/>
                <a:cs typeface="Roboto"/>
                <a:sym typeface="Roboto"/>
              </a:rPr>
              <a:t>The bot generates concise and structured answers using the retrieved document content, ensuring syllabus-bound and accurate responses.</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latin typeface="Roboto"/>
                <a:ea typeface="Roboto"/>
                <a:cs typeface="Roboto"/>
                <a:sym typeface="Roboto"/>
              </a:rPr>
              <a:t>User Interaction: </a:t>
            </a:r>
            <a:r>
              <a:rPr lang="en-US" sz="1600">
                <a:solidFill>
                  <a:schemeClr val="dk1"/>
                </a:solidFill>
                <a:latin typeface="Roboto"/>
                <a:ea typeface="Roboto"/>
                <a:cs typeface="Roboto"/>
                <a:sym typeface="Roboto"/>
              </a:rPr>
              <a:t>The final answers are displayed in a chat-based interface, allowing students to quickly revise concepts and ask follow-up questions.</a:t>
            </a:r>
            <a:br>
              <a:rPr lang="en-US" sz="1600">
                <a:solidFill>
                  <a:schemeClr val="dk1"/>
                </a:solidFill>
                <a:latin typeface="Roboto"/>
                <a:ea typeface="Roboto"/>
                <a:cs typeface="Roboto"/>
                <a:sym typeface="Roboto"/>
              </a:rPr>
            </a:br>
            <a:endParaRPr sz="1600">
              <a:solidFill>
                <a:schemeClr val="dk1"/>
              </a:solidFill>
              <a:latin typeface="Roboto"/>
              <a:ea typeface="Roboto"/>
              <a:cs typeface="Roboto"/>
              <a:sym typeface="Roboto"/>
            </a:endParaRPr>
          </a:p>
          <a:p>
            <a:pPr indent="0" lvl="0" marL="0" rtl="0" algn="l">
              <a:spcBef>
                <a:spcPts val="1200"/>
              </a:spcBef>
              <a:spcAft>
                <a:spcPts val="0"/>
              </a:spcAft>
              <a:buNone/>
            </a:pPr>
            <a:r>
              <a:t/>
            </a:r>
            <a:endParaRPr sz="1100">
              <a:solidFill>
                <a:schemeClr val="dk1"/>
              </a:solidFill>
            </a:endParaRPr>
          </a:p>
        </p:txBody>
      </p:sp>
      <p:pic>
        <p:nvPicPr>
          <p:cNvPr id="103" name="Google Shape;103;p7" title="Flowchart of AI-Based Academic Assistant - visual selection.png"/>
          <p:cNvPicPr preferRelativeResize="0"/>
          <p:nvPr/>
        </p:nvPicPr>
        <p:blipFill rotWithShape="1">
          <a:blip r:embed="rId3">
            <a:alphaModFix/>
          </a:blip>
          <a:srcRect b="4289" l="0" r="0" t="18561"/>
          <a:stretch/>
        </p:blipFill>
        <p:spPr>
          <a:xfrm>
            <a:off x="7522450" y="1157725"/>
            <a:ext cx="4352875" cy="4380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1"/>
          <p:cNvSpPr txBox="1"/>
          <p:nvPr>
            <p:ph type="title"/>
          </p:nvPr>
        </p:nvSpPr>
        <p:spPr>
          <a:xfrm>
            <a:off x="4321234" y="2743467"/>
            <a:ext cx="6683422" cy="61555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sz="4000">
                <a:solidFill>
                  <a:srgbClr val="BF0000"/>
                </a:solidFill>
                <a:latin typeface="Times New Roman"/>
                <a:ea typeface="Times New Roman"/>
                <a:cs typeface="Times New Roman"/>
                <a:sym typeface="Times New Roman"/>
              </a:rPr>
              <a:t>Thank</a:t>
            </a:r>
            <a:r>
              <a:rPr lang="en-US" sz="4000"/>
              <a:t> </a:t>
            </a:r>
            <a:r>
              <a:rPr b="1" lang="en-US" sz="4000">
                <a:solidFill>
                  <a:srgbClr val="BF0000"/>
                </a:solidFill>
                <a:latin typeface="Times New Roman"/>
                <a:ea typeface="Times New Roman"/>
                <a:cs typeface="Times New Roman"/>
                <a:sym typeface="Times New Roman"/>
              </a:rPr>
              <a:t>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